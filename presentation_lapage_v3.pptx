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620000"/>
            <a:ext cx="93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ptos Display"/>
              </a:rPr>
              <a:t>Lapage — Analyse e-commerce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0" y="3456000"/>
            <a:ext cx="6480000" cy="25200"/>
          </a:xfrm>
          <a:prstGeom prst="rect">
            <a:avLst/>
          </a:prstGeom>
          <a:solidFill>
            <a:srgbClr val="A8D5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3671999"/>
            <a:ext cx="936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 i="0">
                <a:solidFill>
                  <a:srgbClr val="A8D5BA"/>
                </a:solidFill>
                <a:latin typeface="Aptos Display"/>
              </a:rPr>
              <a:t>Mars 2021 – Février 2023  ·  679 111 transactions  ·  8 596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5580000"/>
            <a:ext cx="93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7FBF9E"/>
                </a:solidFill>
                <a:latin typeface="Aptos Display"/>
              </a:rPr>
              <a:t>Analyse Data —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26000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14800"/>
            <a:ext cx="2064240" cy="472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3000" b="1" i="0">
                <a:solidFill>
                  <a:srgbClr val="1B4332"/>
                </a:solidFill>
                <a:latin typeface="Aptos Display"/>
              </a:rPr>
              <a:t>01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22222"/>
                </a:solidFill>
                <a:latin typeface="Aptos Display"/>
              </a:rPr>
              <a:t>Activité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777777"/>
                </a:solidFill>
                <a:latin typeface="Aptos Display"/>
              </a:rPr>
              <a:t>CA, transactions
catalogue, saisonnalité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2240" y="1414800"/>
            <a:ext cx="2064240" cy="472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3000" b="1" i="0">
                <a:solidFill>
                  <a:srgbClr val="1B4332"/>
                </a:solidFill>
                <a:latin typeface="Aptos Display"/>
              </a:rPr>
              <a:t>02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22222"/>
                </a:solidFill>
                <a:latin typeface="Aptos Display"/>
              </a:rPr>
              <a:t>Clients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777777"/>
                </a:solidFill>
                <a:latin typeface="Aptos Display"/>
              </a:rPr>
              <a:t>BtoB, concentration
fidélisation, cohortes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64480" y="1414800"/>
            <a:ext cx="2064240" cy="472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3000" b="1" i="0">
                <a:solidFill>
                  <a:srgbClr val="1B4332"/>
                </a:solidFill>
                <a:latin typeface="Aptos Display"/>
              </a:rPr>
              <a:t>03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22222"/>
                </a:solidFill>
                <a:latin typeface="Aptos Display"/>
              </a:rPr>
              <a:t>RFM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777777"/>
                </a:solidFill>
                <a:latin typeface="Aptos Display"/>
              </a:rPr>
              <a:t>Profils clients
valeur, récence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720" y="1414800"/>
            <a:ext cx="2064240" cy="472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3000" b="1" i="0">
                <a:solidFill>
                  <a:srgbClr val="1B4332"/>
                </a:solidFill>
                <a:latin typeface="Aptos Display"/>
              </a:rPr>
              <a:t>04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22222"/>
                </a:solidFill>
                <a:latin typeface="Aptos Display"/>
              </a:rPr>
              <a:t>Corrélations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777777"/>
                </a:solidFill>
                <a:latin typeface="Aptos Display"/>
              </a:rPr>
              <a:t>Âge, genre
catégorie d'achat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8960" y="1414800"/>
            <a:ext cx="2064240" cy="472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3000" b="1" i="0">
                <a:solidFill>
                  <a:srgbClr val="1B4332"/>
                </a:solidFill>
                <a:latin typeface="Aptos Display"/>
              </a:rPr>
              <a:t>05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22222"/>
                </a:solidFill>
                <a:latin typeface="Aptos Display"/>
              </a:rPr>
              <a:t>Synthèse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777777"/>
                </a:solidFill>
                <a:latin typeface="Aptos Display"/>
              </a:rPr>
              <a:t>Enseignements clés
recommandations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CA en hausse sur 24 mois — la croissance vient du volume, pas des prix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3</a:t>
            </a:r>
          </a:p>
        </p:txBody>
      </p:sp>
      <p:pic>
        <p:nvPicPr>
          <p:cNvPr id="5" name="Picture 4" descr="01_ca_temporel_synthe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1502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1E8A44"/>
                </a:solidFill>
                <a:latin typeface="Aptos Display"/>
              </a:rPr>
              <a:t>11,85 M€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CA total sur 2 ans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Mois record : Fév. 2022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Mois creux : Oct.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3421199"/>
            <a:ext cx="3883680" cy="1502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222222"/>
                </a:solidFill>
                <a:latin typeface="Aptos Display"/>
              </a:rPr>
              <a:t>17,35 €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panier moyen — stable sur 2 ans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La hausse du CA vient du nombre d'achats, pas des prix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9520" y="4995599"/>
            <a:ext cx="3883680" cy="1502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Saisonnalité reproductible d'une année sur l'autre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Les pics sont prévisibles — planifier les campagnes en amont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Cat.1 et Cat.0 dominent à 77% — Cat.2 décroche et reste sous-exploitée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4</a:t>
            </a:r>
          </a:p>
        </p:txBody>
      </p:sp>
      <p:pic>
        <p:nvPicPr>
          <p:cNvPr id="5" name="Picture 4" descr="07_repartition_categori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1E8A44"/>
                </a:solidFill>
                <a:latin typeface="Aptos Display"/>
              </a:rPr>
              <a:t>39 %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Catégorie 1 — leader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Catégorie 0 : 37 %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Les deux ensemble : 76 % du 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C0392B"/>
                </a:solidFill>
                <a:latin typeface="Aptos Display"/>
              </a:rPr>
              <a:t>23 %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Catégorie 2 — décroche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Offre, prix ou visibilité à investiguer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Potentiel de croissance non exploité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Saisonnalité prouvée — des pics réels et prévisibles à intégrer au calendrier commercial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5</a:t>
            </a:r>
          </a:p>
        </p:txBody>
      </p:sp>
      <p:pic>
        <p:nvPicPr>
          <p:cNvPr id="5" name="Picture 4" descr="29_saisonnalite_mensue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1E8A44"/>
                </a:solidFill>
                <a:latin typeface="Aptos Display"/>
              </a:rPr>
              <a:t>Lundi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meilleur jour de CA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Samedi = jour le plus faible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Concentrer les communications en début de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Saisonnalité confirmée statistiquement (p &lt; 0,001)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Chaque catégorie a ses propres pics — segmenter les campagnes par catégorie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Pareto 80/20 confirmé — 20% des références font 80% du CA, le catalogue peut être réduit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6</a:t>
            </a:r>
          </a:p>
        </p:txBody>
      </p:sp>
      <p:pic>
        <p:nvPicPr>
          <p:cNvPr id="5" name="Picture 4" descr="21_pareto_prod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1E8A44"/>
                </a:solidFill>
                <a:latin typeface="Aptos Display"/>
              </a:rPr>
              <a:t>80 %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du CA sur 20 % des références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La queue du catalogue génère peu de valeur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Déréférencer les produits en bas de classement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Concentrer les mises en avant sur les références motrices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Simplifier le catalogue = moins de coûts, plus de focus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Transactions et CA évoluent ensemble — augmenter le CA passe obligatoirement par plus d'achats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7</a:t>
            </a:r>
          </a:p>
        </p:txBody>
      </p:sp>
      <p:pic>
        <p:nvPicPr>
          <p:cNvPr id="5" name="Picture 4" descr="04_transactions_par_mo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1E8A44"/>
                </a:solidFill>
                <a:latin typeface="Aptos Display"/>
              </a:rPr>
              <a:t>679 k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transactions sur 2 ans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Moyenne : 28 296 /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Volume et CA parfaitement synchrones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Aucun effet prix détectable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Pour croître : augmenter la fréquence d'achat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4 clients BtoB = 7,4% du CA total — perdre un seul impacte directement les résultats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8</a:t>
            </a:r>
          </a:p>
        </p:txBody>
      </p:sp>
      <p:pic>
        <p:nvPicPr>
          <p:cNvPr id="5" name="Picture 4" descr="08_ca_bt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C0392B"/>
                </a:solidFill>
                <a:latin typeface="Aptos Display"/>
              </a:rPr>
              <a:t>4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clients BtoB identifiés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881 k€ générés — 7,4 % du CA total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Concentration critique sur très peu de comptes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→ Priorité absolue : suivi dédié + contrats cadres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Sécuriser ces comptes avant toute autre action commerciale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Gini 0,45 — concentration modérée, la base BtoC est saine hors les 4 comptes BtoB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9</a:t>
            </a:r>
          </a:p>
        </p:txBody>
      </p:sp>
      <p:pic>
        <p:nvPicPr>
          <p:cNvPr id="5" name="Picture 4" descr="09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222222"/>
                </a:solidFill>
                <a:latin typeface="Aptos Display"/>
              </a:rPr>
              <a:t>48 %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du CA sur les top 20 % clients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Indice de Gini : 0,446 — concentration modérée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La base BtoC est relativement équilibrée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Le risque de concentration vient des 4 BtoB, pas du BtoC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Sécuriser le BtoB sans négliger la valeur diffuse du BtoC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99,7% des clients rachètent — mais la rétention chute dès le 2e mois, J+30 est critique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10</a:t>
            </a:r>
          </a:p>
        </p:txBody>
      </p:sp>
      <p:pic>
        <p:nvPicPr>
          <p:cNvPr id="5" name="Picture 4" descr="17_nouveaux_recurr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1E8A44"/>
                </a:solidFill>
                <a:latin typeface="Aptos Display"/>
              </a:rPr>
              <a:t>99,7 %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des clients ont racheté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8 566 clients sur 8 596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Base active et stable sur 2 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C0392B"/>
                </a:solidFill>
                <a:latin typeface="Aptos Display"/>
              </a:rPr>
              <a:t>J+30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fenêtre critique de rétention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Chute forte dès le 2e mois pour toutes les cohortes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Déclencher un 2e achat avant J+30 = levier majeur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Rétention s'effondre au 2e mois — un 2e achat avant J+30 transforme un one-shot en fidèle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11</a:t>
            </a:r>
          </a:p>
        </p:txBody>
      </p:sp>
      <p:pic>
        <p:nvPicPr>
          <p:cNvPr id="5" name="Picture 4" descr="18_retention_coh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Chute visible sur toutes les cohortes dès le mois 2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Les clients passant le cap du 2e achat restent actifs durablement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→ Email J+7 : recommandation personnalisée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Offre J+30 : incitation au 2e achat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Ce seul geste peut multiplier la valeur vie client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Plus un client est ancien, plus il vaut — fidéliser tôt et longtemps est la meilleure stratégie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12</a:t>
            </a:r>
          </a:p>
        </p:txBody>
      </p:sp>
      <p:pic>
        <p:nvPicPr>
          <p:cNvPr id="5" name="Picture 4" descr="28_seniorite_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1E8A44"/>
                </a:solidFill>
                <a:latin typeface="Aptos Display"/>
              </a:rPr>
              <a:t>ρ = 0,55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ancienneté × fréquence d'achat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Corrélation forte — plus un client est ancien, plus il achète souvent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1E8A44"/>
                </a:solidFill>
                <a:latin typeface="Aptos Display"/>
              </a:rPr>
              <a:t>ρ = 0,48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ancienneté × CA total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La valeur d'un client croît dans le temps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Investir dans la durée de la relation est directement rentable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4 segments RFM distincts — les À risque ressemblent aux Champions, les réactiver vite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13</a:t>
            </a:r>
          </a:p>
        </p:txBody>
      </p:sp>
      <p:pic>
        <p:nvPicPr>
          <p:cNvPr id="5" name="Picture 4" descr="19_r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1502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1E8A44"/>
                </a:solidFill>
                <a:latin typeface="Aptos Display"/>
              </a:rPr>
              <a:t>2 639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Champions — CA moy. 2 189 €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Loyaux (1 291) : 963 € · fidèles, valeur intermédiaire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3421199"/>
            <a:ext cx="3883680" cy="1502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C0392B"/>
                </a:solidFill>
                <a:latin typeface="Aptos Display"/>
              </a:rPr>
              <a:t>1 245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clients À risque — CA moy. 1 464 €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Profil quasi identique aux Champions mais en train de partir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Cible de réactivation prioritaire — agir avant la bascule définitive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9520" y="4995599"/>
            <a:ext cx="3883680" cy="1502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C0392B"/>
                </a:solidFill>
                <a:latin typeface="Aptos Display"/>
              </a:rPr>
              <a:t>2 985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clients Perdus — 35 % de la base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Campagne de reconquête ciblée à fort potentiel de 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Genre et catégorie : lien trop faible pour segmenter — l'effort ne sera pas rentabilisé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14</a:t>
            </a:r>
          </a:p>
        </p:txBody>
      </p:sp>
      <p:pic>
        <p:nvPicPr>
          <p:cNvPr id="5" name="Picture 4" descr="10_genre_catego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Lien statistiquement réel mais de très petite taille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Le genre influence marginalement les préférences d'achat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→ Segmenter par genre seul : trop peu d'impact sur le CA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À croiser avec l'âge pour affiner le ciblage éditorial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Tranche d'âge et catégorie : lien fort — c'est le seul levier démographique actionnable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15</a:t>
            </a:r>
          </a:p>
        </p:txBody>
      </p:sp>
      <p:pic>
        <p:nvPicPr>
          <p:cNvPr id="5" name="Picture 4" descr="14_age_catego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Lien statistiquement très fort (V de Cramér élevé)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L'âge prédit bien la catégorie achetée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→ Adapter les mises en avant selon la tranche d'âge du client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Résultat le plus actionnable des 5 corrélations analysées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Ciblage éditorial par âge : pertinent et immédiatement opérationnel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Âge et dépenses totales : légère corrélation négative — l'âge seul n'est pas prédicteur de valeur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16</a:t>
            </a:r>
          </a:p>
        </p:txBody>
      </p:sp>
      <p:pic>
        <p:nvPicPr>
          <p:cNvPr id="5" name="Picture 4" descr="11_age_ca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4000" b="1" i="0">
                <a:solidFill>
                  <a:srgbClr val="C0392B"/>
                </a:solidFill>
                <a:latin typeface="Aptos Display"/>
              </a:rPr>
              <a:t>−11 €</a:t>
            </a:r>
          </a:p>
          <a:p>
            <a:pPr>
              <a:spcBef>
                <a:spcPts val="0"/>
              </a:spcBef>
            </a:pPr>
            <a:r>
              <a:rPr sz="1200" b="0" i="0">
                <a:solidFill>
                  <a:srgbClr val="777777"/>
                </a:solidFill>
                <a:latin typeface="Aptos Display"/>
              </a:rPr>
              <a:t>de CA par année d'âge supplémentaire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r = −0,188 — lien réel mais de faible amplitude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→ L'âge ne suffit pas à prédire la valeur d'un client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L'ancienneté est un bien meilleur indicateur (ρ = 0,48)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Ne pas cibler par âge pour optimiser la valeur client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Âge et fréquence : aucun lien — c'est l'ancienneté qui fait revenir, pas l'âge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17</a:t>
            </a:r>
          </a:p>
        </p:txBody>
      </p:sp>
      <p:pic>
        <p:nvPicPr>
          <p:cNvPr id="5" name="Picture 4" descr="12_age_fr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Aucune relation entre l'âge et la fréquence d'achat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Un client de 25 ans n'achète pas plus souvent qu'un client de 60 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→ Ce qui fait revenir un client : son ancienneté, pas son âge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Stratégie : fidéliser tôt, entretenir la relation dans la durée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Âge et panier moyen : aucun lien — tous les âges dépensent autant par achat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57999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18</a:t>
            </a:r>
          </a:p>
        </p:txBody>
      </p:sp>
      <p:pic>
        <p:nvPicPr>
          <p:cNvPr id="5" name="Picture 4" descr="13_age_panier_moy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46799"/>
            <a:ext cx="6365520" cy="4651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9520" y="18467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Aucune relation entre l'âge et le montant par transaction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Résultat cohérent avec les deux corrélations précédentes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9520" y="4208399"/>
            <a:ext cx="3883680" cy="2289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80000" rIns="180000" tIns="144000" bIns="108000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Aptos Display"/>
              </a:rPr>
              <a:t>Conclusion sur l'âge :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Utile pour le ciblage éditorial (quelle catégorie proposer)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222222"/>
                </a:solidFill>
                <a:latin typeface="Aptos Display"/>
              </a:rPr>
              <a:t>→ Pas pertinent pour prédire la valeur ou la fréquence d'achat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Synthèse — Ce que les données nous disent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26000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14800"/>
            <a:ext cx="2607300" cy="72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000" y="1594800"/>
            <a:ext cx="2391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ptos Display"/>
              </a:rPr>
              <a:t>Activité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34800"/>
            <a:ext cx="2607300" cy="400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Aptos Display"/>
              </a:rPr>
              <a:t>→  CA +11,85 M€ sur 2 ans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Saisonnalité prévisible et exploitable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Pareto 80/20 confirmé sur le catalogue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Cat.2 décroche — levier de diversification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5300" y="1414800"/>
            <a:ext cx="2607300" cy="720000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3300" y="1594800"/>
            <a:ext cx="2391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ptos Display"/>
              </a:rPr>
              <a:t>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5300" y="2134800"/>
            <a:ext cx="2607300" cy="400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Aptos Display"/>
              </a:rPr>
              <a:t>→  99,7 % des clients rachètent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4 clients BtoB = 7,4 % du CA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Rétention chute dès J+30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Valeur client croît avec ancienneté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0600" y="1414800"/>
            <a:ext cx="2607300" cy="720000"/>
          </a:xfrm>
          <a:prstGeom prst="rect">
            <a:avLst/>
          </a:prstGeom>
          <a:solidFill>
            <a:srgbClr val="6C3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8600" y="1594800"/>
            <a:ext cx="2391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ptos Display"/>
              </a:rPr>
              <a:t>Corrélations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600" y="2134800"/>
            <a:ext cx="2607300" cy="400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Aptos Display"/>
              </a:rPr>
              <a:t>→  Âge → fort prédicteur de catégorie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Genre → effet trop faible pour segmenter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Âge → effet faible sur le CA total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Fréquence portée par l'ancienneté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5900" y="1414800"/>
            <a:ext cx="2607300" cy="720000"/>
          </a:xfrm>
          <a:prstGeom prst="rect">
            <a:avLst/>
          </a:prstGeom>
          <a:solidFill>
            <a:srgbClr val="1B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3900" y="1594800"/>
            <a:ext cx="2391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ptos Display"/>
              </a:rPr>
              <a:t>Signal 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5900" y="2134800"/>
            <a:ext cx="2607300" cy="400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Aptos Display"/>
              </a:rPr>
              <a:t>→  La valeur = durée de la relation, pas l'âge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Faire revenir avant J+30 = levier n°1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Cibler par âge pour l'offre éditoriale</a:t>
            </a:r>
          </a:p>
          <a:p>
            <a:pPr>
              <a:spcBef>
                <a:spcPts val="1200"/>
              </a:spcBef>
            </a:pPr>
            <a:r>
              <a:rPr sz="1800" b="0" i="0">
                <a:solidFill>
                  <a:srgbClr val="222222"/>
                </a:solidFill>
                <a:latin typeface="Aptos Display"/>
              </a:rPr>
              <a:t>→  Sécuriser les 4 comptes BtoB en urgence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"/>
            <a:ext cx="10753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22222"/>
                </a:solidFill>
                <a:latin typeface="Aptos Display"/>
              </a:rPr>
              <a:t>5 actions prioritaires pour les 6 prochains mois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26000"/>
            <a:ext cx="10753200" cy="288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80000" y="6408000"/>
            <a:ext cx="9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Aptos Display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14800"/>
            <a:ext cx="2064240" cy="7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000" y="1594800"/>
            <a:ext cx="1848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ptos Display"/>
              </a:rPr>
              <a:t>1 — Sécuriser le BtoB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34800"/>
            <a:ext cx="2064240" cy="400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1800" b="0" i="0">
                <a:solidFill>
                  <a:srgbClr val="777777"/>
                </a:solidFill>
                <a:latin typeface="Aptos Display"/>
              </a:rPr>
              <a:t>7,4 % du CA sur 4 comptes
→ Suivi dédié + contrats cadres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2240" y="1414800"/>
            <a:ext cx="2064240" cy="7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0240" y="1594800"/>
            <a:ext cx="1848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ptos Display"/>
              </a:rPr>
              <a:t>2 — Déclencher le 2e achat &lt; J+30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2240" y="2134800"/>
            <a:ext cx="2064240" cy="400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1800" b="0" i="0">
                <a:solidFill>
                  <a:srgbClr val="777777"/>
                </a:solidFill>
                <a:latin typeface="Aptos Display"/>
              </a:rPr>
              <a:t>Email J+7 + offre J+30
→ Transformer chaque one-shot en fidèle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64480" y="1414800"/>
            <a:ext cx="2064240" cy="72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2480" y="1594800"/>
            <a:ext cx="1848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ptos Display"/>
              </a:rPr>
              <a:t>3 — Rationaliser le catalogue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4480" y="2134800"/>
            <a:ext cx="2064240" cy="400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1800" b="0" i="0">
                <a:solidFill>
                  <a:srgbClr val="777777"/>
                </a:solidFill>
                <a:latin typeface="Aptos Display"/>
              </a:rPr>
              <a:t>Focus 20 % des références motrices
→ Pareto 80/20 confirmé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6720" y="1414800"/>
            <a:ext cx="2064240" cy="72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4720" y="1594800"/>
            <a:ext cx="1848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ptos Display"/>
              </a:rPr>
              <a:t>4 — Cibler par tranche d'âge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720" y="2134800"/>
            <a:ext cx="2064240" cy="400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1800" b="0" i="0">
                <a:solidFill>
                  <a:srgbClr val="777777"/>
                </a:solidFill>
                <a:latin typeface="Aptos Display"/>
              </a:rPr>
              <a:t>Adapter les mises en avant éditoriales
→ Seul levier démographique fort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08960" y="1414800"/>
            <a:ext cx="2064240" cy="72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16960" y="1594800"/>
            <a:ext cx="18482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ptos Display"/>
              </a:rPr>
              <a:t>5 — Réactiver À risque + Perdus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8960" y="2134800"/>
            <a:ext cx="2064240" cy="400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txBody>
          <a:bodyPr wrap="square" lIns="162000" rIns="162000" tIns="162000" bIns="162000">
            <a:spAutoFit/>
          </a:bodyPr>
          <a:lstStyle/>
          <a:p>
            <a:r>
              <a:rPr sz="1800" b="0" i="0">
                <a:solidFill>
                  <a:srgbClr val="777777"/>
                </a:solidFill>
                <a:latin typeface="Aptos Display"/>
              </a:rPr>
              <a:t>4 230 clients · CA moyen À risque : 1 464 €
→ Campagne RFM ciblée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