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94A3B8"/>
                </a:solidFill>
              </a:defRPr>
            </a:pPr>
            <a:r>
              <a:t>LAPAGE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</a:defRPr>
            </a:pPr>
            <a:r>
              <a:t>Analyse de l'activité</a:t>
            </a:r>
            <a:br/>
            <a:r>
              <a:t>e-commerce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703320"/>
            <a:ext cx="2286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4A3B8"/>
                </a:solidFill>
              </a:defRPr>
            </a:pPr>
            <a:r>
              <a:t>Bilan 2 ans d'e-commerce  ·  Mars 2021 – Février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17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Présentation CODIR  ·  Mars 2023  ·  Direction commerciale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B2A4A"/>
                </a:solidFill>
              </a:defRPr>
            </a:pPr>
            <a:r>
              <a:t>Chiffres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475569"/>
                </a:solidFill>
              </a:defRPr>
            </a:pPr>
            <a:r>
              <a:t>Vue d'ensemble · Mars 2021 – Février 2023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148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14884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44168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B2A4A"/>
                </a:solidFill>
              </a:defRPr>
            </a:pPr>
            <a:r>
              <a:t>11,8 M€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475569"/>
                </a:solidFill>
              </a:defRPr>
            </a:pPr>
            <a:r>
              <a:t>Chiffre d'affaires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21408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</a:defRPr>
            </a:pPr>
            <a:r>
              <a:t>Sur 24 mois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15184" y="1234440"/>
            <a:ext cx="2148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15184" y="1234440"/>
            <a:ext cx="2148840" cy="50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52344" y="1344168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B2A4A"/>
                </a:solidFill>
              </a:defRPr>
            </a:pPr>
            <a:r>
              <a:t>678 284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2344" y="182880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475569"/>
                </a:solidFill>
              </a:defRPr>
            </a:pPr>
            <a:r>
              <a:t>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2344" y="2121408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</a:defRPr>
            </a:pPr>
            <a:r>
              <a:t>Lignes de vente nettes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64608" y="1234440"/>
            <a:ext cx="2148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64608" y="1234440"/>
            <a:ext cx="214884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1768" y="1344168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B2A4A"/>
                </a:solidFill>
              </a:defRPr>
            </a:pPr>
            <a:r>
              <a:t>8 600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1768" y="182880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475569"/>
                </a:solidFill>
              </a:defRPr>
            </a:pPr>
            <a:r>
              <a:t>Clients actifs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1768" y="2121408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</a:defRPr>
            </a:pPr>
            <a:r>
              <a:t>Ayant passé ≥ 1 commande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14032" y="1234440"/>
            <a:ext cx="2148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14032" y="1234440"/>
            <a:ext cx="2148840" cy="50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51192" y="1344168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B2A4A"/>
                </a:solidFill>
              </a:defRPr>
            </a:pPr>
            <a:r>
              <a:t>493 k€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182880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475569"/>
                </a:solidFill>
              </a:defRPr>
            </a:pPr>
            <a:r>
              <a:t>CA moyen / mois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1192" y="2121408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</a:defRPr>
            </a:pPr>
            <a:r>
              <a:t>Sur la période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63456" y="1234440"/>
            <a:ext cx="2148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63456" y="1234440"/>
            <a:ext cx="2148840" cy="508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1344168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B2A4A"/>
                </a:solidFill>
              </a:defRPr>
            </a:pPr>
            <a:r>
              <a:t>34,58 €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182880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475569"/>
                </a:solidFill>
              </a:defRPr>
            </a:pPr>
            <a:r>
              <a:t>Valeur moy. commande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0616" y="2121408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</a:defRPr>
            </a:pPr>
            <a:r>
              <a:t>Ce qu'un client dépense / visite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63456" y="27432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17,45 €  ·  Prix moyen par article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926080"/>
            <a:ext cx="1143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0632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La plateforme e-commerce s'est imposée comme un canal majeur dès sa première année. Avec 8 600 clients actifs et près de 680 000 transactions, l'activité est soutenue et régulière. La valeur d'une commande (34,58 €) correspond à environ 2 articles au prix moyen (17,45 €).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</a:defRPr>
            </a:pPr>
            <a:r>
              <a:t>Source : base transactions e-commerce Lapage  ·  Données nettoyées (lignes test et doublons exclus)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B2A4A"/>
                </a:solidFill>
              </a:defRPr>
            </a:pPr>
            <a:r>
              <a:t>Évolution du chiffre d'affaires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475569"/>
                </a:solidFill>
              </a:defRPr>
            </a:pPr>
            <a:r>
              <a:t>CA mensuel avec moyenne mobile 3 mois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ca_mensu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8046720" cy="3840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95360" y="1143000"/>
            <a:ext cx="32004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563EB"/>
                </a:solidFill>
              </a:defRPr>
            </a:pPr>
            <a:r>
              <a:t>Points clés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→  Mois record : février 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9019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→  Mois creux : octobre 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2494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→  Tendance stable sur 24 mois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5968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→  Pas de saisonnalité marquée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120640"/>
            <a:ext cx="11183112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52303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La moyenne mobile (ligne rouge) confirme une activité sans déclin structurel. L'absence de saisonnalité forte suggère une demande continue, indépendante des périodes clés.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B2A4A"/>
                </a:solidFill>
              </a:defRPr>
            </a:pPr>
            <a:r>
              <a:t>Répartition du CA par catégorie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475569"/>
                </a:solidFill>
              </a:defRPr>
            </a:pPr>
            <a:r>
              <a:t>Structure des ventes et évolution mensuelle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_repartition_catego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6858000" cy="3291840"/>
          </a:xfrm>
          <a:prstGeom prst="rect">
            <a:avLst/>
          </a:prstGeom>
        </p:spPr>
      </p:pic>
      <p:pic>
        <p:nvPicPr>
          <p:cNvPr id="7" name="Picture 6" descr="02_ca_par_categor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526280"/>
            <a:ext cx="6858000" cy="2103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06640" y="1143000"/>
            <a:ext cx="438912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2344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563EB"/>
                </a:solidFill>
              </a:defRPr>
            </a:pPr>
            <a:r>
              <a:t>Lecture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5544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→  Catégorie 1 : 39% du CA (leader)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9019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→  Catégorie 0 : 37% du 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24942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→  Catégorie 2 : 23% du 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59689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→  Équilibre stable sur 24 mois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9443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→  Cat. 2 : prix unitaires élevés (jusqu'à 300 €)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4572000"/>
            <a:ext cx="438912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47091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Bien que minoritaire en volume, la catégorie 2 représente 23% du CA grâce à ses prix premium.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B2A4A"/>
                </a:solidFill>
              </a:defRPr>
            </a:pPr>
            <a:r>
              <a:t>Activité clients &amp;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475569"/>
                </a:solidFill>
              </a:defRPr>
            </a:pPr>
            <a:r>
              <a:t>Évolution mensuelle des volumes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clients_par_mo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5577840" cy="2377440"/>
          </a:xfrm>
          <a:prstGeom prst="rect">
            <a:avLst/>
          </a:prstGeom>
        </p:spPr>
      </p:pic>
      <p:pic>
        <p:nvPicPr>
          <p:cNvPr id="7" name="Picture 6" descr="04_transactions_par_mo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5669280" cy="2377440"/>
          </a:xfrm>
          <a:prstGeom prst="rect">
            <a:avLst/>
          </a:prstGeom>
        </p:spPr>
      </p:pic>
      <p:pic>
        <p:nvPicPr>
          <p:cNvPr id="8" name="Picture 7" descr="05_references_par_mo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703320"/>
            <a:ext cx="5577840" cy="2377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0" y="3703320"/>
            <a:ext cx="566928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38404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563EB"/>
                </a:solidFill>
              </a:defRPr>
            </a:pPr>
            <a:r>
              <a:t>Synthèse mensuelle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1605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→  ~5 700 clients uniques / mois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079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→  ~28 000 transactions / mois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85546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→  ~2 450 références distinctes vendues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20293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→  Base clients stable, pas d'érosion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B2A4A"/>
                </a:solidFill>
              </a:defRPr>
            </a:pPr>
            <a:r>
              <a:t>Zoom références — Top &amp; Flop produits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475569"/>
                </a:solidFill>
              </a:defRPr>
            </a:pPr>
            <a:r>
              <a:t>Classement par chiffre d'affaires généré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top_flop_produ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804672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95360" y="1143000"/>
            <a:ext cx="32004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563EB"/>
                </a:solidFill>
              </a:defRPr>
            </a:pPr>
            <a:r>
              <a:t>Enseignements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→  Top produit (2_159) : 95 k€ de 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9019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→  Le top 10 est dominé par la cat.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2494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→  Flops : &lt; 3 € de CA, 1–2 ventes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3383280"/>
            <a:ext cx="32004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3520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563EB"/>
                </a:solidFill>
              </a:defRPr>
            </a:pPr>
            <a:r>
              <a:t>Action recommandée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840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Retirer les références flop du catalogue pour simplifier l'offre et réduire les coûts de gestion.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303520"/>
            <a:ext cx="11183112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5394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</a:defRPr>
            </a:pPr>
            <a:r>
              <a:t>Source : calcul sur 678 284 transactions nettes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B2A4A"/>
                </a:solidFill>
              </a:defRPr>
            </a:pPr>
            <a:r>
              <a:t>Concentration du 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475569"/>
                </a:solidFill>
              </a:defRPr>
            </a:pPr>
            <a:r>
              <a:t>Courbe de Lorenz &amp; segmentation clients à fort volume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9_loren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5029200" cy="5029200"/>
          </a:xfrm>
          <a:prstGeom prst="rect">
            <a:avLst/>
          </a:prstGeom>
        </p:spPr>
      </p:pic>
      <p:pic>
        <p:nvPicPr>
          <p:cNvPr id="7" name="Picture 6" descr="08_ca_bt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143000"/>
            <a:ext cx="384048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601200" y="1143000"/>
            <a:ext cx="2286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1234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563EB"/>
                </a:solidFill>
              </a:defRPr>
            </a:pPr>
            <a:r>
              <a:t>Lecture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6002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Gini = 0,446</a:t>
            </a:r>
            <a:br/>
            <a:br/>
            <a:r>
              <a:t>Les 20% des meilleurs clients génèrent 48% du CA.</a:t>
            </a:r>
            <a:br/>
            <a:br/>
            <a:r>
              <a:t>4 clients à très fort volume (proxy BtoB) concentrent 7,4% du 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303520"/>
            <a:ext cx="11183112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5394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</a:defRPr>
            </a:pPr>
            <a:r>
              <a:t>Proxy BtoB : clients dont le CA dépasse moyenne + 2 écarts-types (seuil : 11 719 €)  ·  Concentration modérée : Gini &lt; 0,5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B2A4A"/>
                </a:solidFill>
              </a:defRPr>
            </a:pPr>
            <a:r>
              <a:t>Comportement clients — Genre &amp; Catégorie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475569"/>
                </a:solidFill>
              </a:defRPr>
            </a:pPr>
            <a:r>
              <a:t>Test d'indépendance Chi²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_genre_catego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498079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46720" y="1143000"/>
            <a:ext cx="3749039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2344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563EB"/>
                </a:solidFill>
              </a:defRPr>
            </a:pPr>
            <a:r>
              <a:t>Résultat statistique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60020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Test Chi²  ·  p &lt; 0,05</a:t>
            </a:r>
            <a:br/>
            <a:r>
              <a:t>→ Lien statistiquement significatif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377440"/>
            <a:ext cx="3749039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4688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D9488"/>
                </a:solidFill>
              </a:defRPr>
            </a:pPr>
            <a:r>
              <a:t>En pratique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83464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Femmes : 60,9% cat. 0 — 34,0% cat. 1</a:t>
            </a:r>
            <a:br/>
            <a:r>
              <a:t>Hommes : 61,4% cat. 0 — 32,9% cat. 1</a:t>
            </a:r>
            <a:br/>
            <a:br/>
            <a:r>
              <a:t>Les différences sont minimes. Hommes et femmes achètent les mêmes catégories.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4343400"/>
            <a:ext cx="3749039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4348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97706"/>
                </a:solidFill>
              </a:defRPr>
            </a:pPr>
            <a:r>
              <a:t>Recommandation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77316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Pas de segmentation marketing par genre sur les catégories.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B2A4A"/>
                </a:solidFill>
              </a:defRPr>
            </a:pPr>
            <a:r>
              <a:t>Comportement clients — Âge &amp; Achats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475569"/>
                </a:solidFill>
              </a:defRPr>
            </a:pPr>
            <a:r>
              <a:t>Corrélations de Pearson par 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1_age_ca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5577840" cy="2560320"/>
          </a:xfrm>
          <a:prstGeom prst="rect">
            <a:avLst/>
          </a:prstGeom>
        </p:spPr>
      </p:pic>
      <p:pic>
        <p:nvPicPr>
          <p:cNvPr id="7" name="Picture 6" descr="13_age_panier_moy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5669280" cy="2560320"/>
          </a:xfrm>
          <a:prstGeom prst="rect">
            <a:avLst/>
          </a:prstGeom>
        </p:spPr>
      </p:pic>
      <p:pic>
        <p:nvPicPr>
          <p:cNvPr id="8" name="Picture 7" descr="12_age_frequ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840480"/>
            <a:ext cx="5577840" cy="2560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0" y="3840480"/>
            <a:ext cx="566928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397763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563EB"/>
                </a:solidFill>
              </a:defRPr>
            </a:pPr>
            <a:r>
              <a:t>Synthèse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297679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→  Panier moyen : corrélation forte r = −0,51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645151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→    → Les jeunes dépensent plus par achat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992623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→  CA total : corrélation très faible r = −0,04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340095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→  Fréquence : aucun lien (p = 0,53)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687567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→    → Tous les âges achètent autant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B2A4A"/>
                </a:solidFill>
              </a:defRPr>
            </a:pPr>
            <a:r>
              <a:t>Comportement clients — Âge &amp; Catégorie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475569"/>
                </a:solidFill>
              </a:defRPr>
            </a:pPr>
            <a:r>
              <a:t>Test Chi²  ·  Résultat très significatif (p &lt; 0,001)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4_age_catego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7724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143000"/>
            <a:ext cx="347472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234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563EB"/>
                </a:solidFill>
              </a:defRPr>
            </a:pPr>
            <a:r>
              <a:t>Par tranche d'âge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DC2626"/>
                </a:solidFill>
              </a:defRPr>
            </a:pPr>
            <a:r>
              <a:t>&lt; 25 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6002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</a:defRPr>
            </a:pPr>
            <a:r>
              <a:t>42% cat. 2 (livres premium)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96596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4748B"/>
                </a:solidFill>
              </a:defRPr>
            </a:pPr>
            <a:r>
              <a:t>25–34 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96596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</a:defRPr>
            </a:pPr>
            <a:r>
              <a:t>54% cat.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317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4748B"/>
                </a:solidFill>
              </a:defRPr>
            </a:pPr>
            <a:r>
              <a:t>35–49 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33172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</a:defRPr>
            </a:pPr>
            <a:r>
              <a:t>76% cat. 0 (très concentré)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69748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4748B"/>
                </a:solidFill>
              </a:defRPr>
            </a:pPr>
            <a:r>
              <a:t>50–64 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69748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</a:defRPr>
            </a:pPr>
            <a:r>
              <a:t>48% cat.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632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D9488"/>
                </a:solidFill>
              </a:defRPr>
            </a:pPr>
            <a:r>
              <a:t>65+ 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0632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</a:defRPr>
            </a:pPr>
            <a:r>
              <a:t>56% cat.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3611880"/>
            <a:ext cx="347472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74903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97706"/>
                </a:solidFill>
              </a:defRPr>
            </a:pPr>
            <a:r>
              <a:t>Recommandation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1148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Cibler les &lt; 25 ans sur la catégorie 2 (coffrets, livres premium). Ce segment a le panier moyen le plus élevé.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B2A4A"/>
                </a:solidFill>
              </a:defRPr>
            </a:pPr>
            <a:r>
              <a:t>Recommandations stratégiques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475569"/>
                </a:solidFill>
              </a:defRPr>
            </a:pPr>
            <a:r>
              <a:t>Synthèse des actions prioritaires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41148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2618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B2A4A"/>
                </a:solidFill>
              </a:defRPr>
            </a:pPr>
            <a:r>
              <a:t>Fidéliser les clients à fort volume (BtoB)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4 clients représentent 7,4% du CA. Un programme dédié (compte pro, remises volume) réduit le risque de perte.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11183112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41148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560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420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B2A4A"/>
                </a:solidFill>
              </a:defRPr>
            </a:pPr>
            <a:r>
              <a:t>Cibler les &lt; 25 ans sur la catégorie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880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Ce segment achète 42% de livres premium avec le panier moyen le plus élevé. Des offres cadeaux/coffrets sont pertinentes.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11880"/>
            <a:ext cx="11183112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840479"/>
            <a:ext cx="41148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8404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822191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B2A4A"/>
                </a:solidFill>
              </a:defRPr>
            </a:pPr>
            <a:r>
              <a:t>Rationaliser le catalogue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16051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Les références flop (&lt; 3 € de CA, 1–2 ventes) n'apportent pas de valeur. Leur retrait simplifie l'expérience client.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92039"/>
            <a:ext cx="11183112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120639"/>
            <a:ext cx="411480" cy="4114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12063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102351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B2A4A"/>
                </a:solidFill>
              </a:defRPr>
            </a:pPr>
            <a:r>
              <a:t>Pas de segmentation par genre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44067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Les comportements d'achat sont quasi-identiques entre hommes et femmes. Réorienter ces ressources marketing.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94A3B8"/>
                </a:solidFill>
              </a:defRPr>
            </a:pPr>
            <a:r>
              <a:t>Lapage  ·  Analyse e-commerce  ·  Mars 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