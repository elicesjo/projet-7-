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Lapage — Analyse e-commerce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Mars 2021 – Février 2023</a:t>
            </a:r>
            <a:br/>
            <a:br/>
            <a:r>
              <a:rPr/>
              <a:t>Analyse Data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01 — Contexte</a:t>
            </a:r>
          </a:p>
          <a:p>
            <a:pPr lvl="0" indent="0" marL="0">
              <a:buNone/>
            </a:pPr>
            <a:r>
              <a:rPr/>
              <a:t>Périmètre, sources de données et questions structurantes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02 — Activité</a:t>
            </a:r>
          </a:p>
          <a:p>
            <a:pPr lvl="0" indent="0" marL="0">
              <a:buNone/>
            </a:pPr>
            <a:r>
              <a:rPr/>
              <a:t>CA, produits, clients, transactions, références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Contexte &amp; objectifs de l’analyse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Lapage</a:t>
            </a:r>
            <a:r>
              <a:rPr/>
              <a:t> est une librairie e-commerce dont nous analysons </a:t>
            </a:r>
            <a:r>
              <a:rPr b="1"/>
              <a:t>2 ans d’activité</a:t>
            </a:r>
            <a:r>
              <a:rPr/>
              <a:t> pour identifier les leviers de croissance et les profils clients prioritaires.</a:t>
            </a:r>
          </a:p>
          <a:p>
            <a:pPr lvl="0" indent="0" marL="0">
              <a:buNone/>
            </a:pPr>
            <a:r>
              <a:rPr b="1"/>
              <a:t>3 questions structurantes :</a:t>
            </a:r>
          </a:p>
          <a:p>
            <a:pPr lvl="0"/>
            <a:r>
              <a:rPr/>
              <a:t>Comment évolue l’activité dans le temps ?</a:t>
            </a:r>
          </a:p>
          <a:p>
            <a:pPr lvl="0"/>
            <a:r>
              <a:rPr/>
              <a:t>Quels produits et clients génèrent la valeur ?</a:t>
            </a:r>
          </a:p>
          <a:p>
            <a:pPr lvl="0"/>
            <a:r>
              <a:rPr/>
              <a:t>Le profil client influence-t-il le comportement d’achat 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Périmètre de l’analyse</a:t>
            </a:r>
          </a:p>
          <a:p>
            <a:pPr lvl="0"/>
            <a:r>
              <a:rPr b="1"/>
              <a:t>Période</a:t>
            </a:r>
            <a:r>
              <a:rPr/>
              <a:t> — Mars 2021 – Février 2023</a:t>
            </a:r>
          </a:p>
          <a:p>
            <a:pPr lvl="0"/>
            <a:r>
              <a:rPr b="1"/>
              <a:t>Sources</a:t>
            </a:r>
            <a:r>
              <a:rPr/>
              <a:t> — Clients, produits, transactions</a:t>
            </a:r>
          </a:p>
          <a:p>
            <a:pPr lvl="0"/>
            <a:r>
              <a:rPr b="1"/>
              <a:t>Catalogue</a:t>
            </a:r>
            <a:r>
              <a:rPr/>
              <a:t> — 3 catégories de livres</a:t>
            </a:r>
          </a:p>
          <a:p>
            <a:pPr lvl="0"/>
            <a:r>
              <a:rPr b="1"/>
              <a:t>Clientèle</a:t>
            </a:r>
            <a:r>
              <a:rPr/>
              <a:t> — BtoC &amp; BtoB</a:t>
            </a:r>
          </a:p>
          <a:p>
            <a:pPr lvl="0"/>
            <a:r>
              <a:rPr b="1"/>
              <a:t>Base</a:t>
            </a:r>
            <a:r>
              <a:rPr/>
              <a:t> — 679 111 transactions, 8 596 clients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+24 mois de hausse — la croissance est portée par le volume, le panier moyen reste stable</a:t>
            </a:r>
          </a:p>
        </p:txBody>
      </p:sp>
      <p:pic>
        <p:nvPicPr>
          <p:cNvPr descr="figures/01_ca_temporel_synthe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51000"/>
            <a:ext cx="4038600" cy="247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Chiffre d’affaires mensuel</a:t>
            </a:r>
          </a:p>
          <a:p>
            <a:pPr lvl="0"/>
            <a:r>
              <a:rPr/>
              <a:t>CA total sur 2 ans : </a:t>
            </a:r>
            <a:r>
              <a:rPr b="1"/>
              <a:t>11,85 M€</a:t>
            </a:r>
          </a:p>
          <a:p>
            <a:pPr lvl="0"/>
            <a:r>
              <a:rPr/>
              <a:t>Moyenne mensuelle : </a:t>
            </a:r>
            <a:r>
              <a:rPr b="1"/>
              <a:t>494 k€</a:t>
            </a:r>
          </a:p>
          <a:p>
            <a:pPr lvl="0"/>
            <a:r>
              <a:rPr/>
              <a:t>Tendance </a:t>
            </a:r>
            <a:r>
              <a:rPr b="1"/>
              <a:t>haussière</a:t>
            </a:r>
            <a:r>
              <a:rPr/>
              <a:t> sur toute la période</a:t>
            </a:r>
          </a:p>
          <a:p>
            <a:pPr lvl="0"/>
            <a:r>
              <a:rPr/>
              <a:t>Mois record : </a:t>
            </a:r>
            <a:r>
              <a:rPr b="1"/>
              <a:t>Février 2022</a:t>
            </a:r>
          </a:p>
          <a:p>
            <a:pPr lvl="0"/>
            <a:r>
              <a:rPr/>
              <a:t>Panier moyen </a:t>
            </a:r>
            <a:r>
              <a:rPr b="1"/>
              <a:t>stable</a:t>
            </a:r>
            <a:r>
              <a:rPr/>
              <a:t> à 17,35 € — la croissance est portée par le volume, pas les prix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Catégorie 1 en tête — deux catégories quasi à égalité, la troisième décroche</a:t>
            </a:r>
          </a:p>
        </p:txBody>
      </p:sp>
      <p:pic>
        <p:nvPicPr>
          <p:cNvPr descr="figures/07_repartition_categorie_ba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25600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Répartition par catégorie</a:t>
            </a:r>
          </a:p>
          <a:p>
            <a:pPr lvl="0"/>
            <a:r>
              <a:rPr/>
              <a:t>Catégorie 1 — </a:t>
            </a:r>
            <a:r>
              <a:rPr b="1"/>
              <a:t>39,3 %</a:t>
            </a:r>
            <a:r>
              <a:rPr/>
              <a:t> du CA (leader)</a:t>
            </a:r>
          </a:p>
          <a:p>
            <a:pPr lvl="0"/>
            <a:r>
              <a:rPr/>
              <a:t>Catégorie 0 — </a:t>
            </a:r>
            <a:r>
              <a:rPr b="1"/>
              <a:t>37,3 %</a:t>
            </a:r>
            <a:r>
              <a:rPr/>
              <a:t> du CA (quasi à égalité)</a:t>
            </a:r>
          </a:p>
          <a:p>
            <a:pPr lvl="0"/>
            <a:r>
              <a:rPr/>
              <a:t>Catégorie 2 — </a:t>
            </a:r>
            <a:r>
              <a:rPr b="1"/>
              <a:t>23,5 %</a:t>
            </a:r>
            <a:r>
              <a:rPr/>
              <a:t> du CA (décrochage)</a:t>
            </a:r>
          </a:p>
          <a:p>
            <a:pPr lvl="0"/>
            <a:r>
              <a:rPr/>
              <a:t>Risque modéré de dépendance — deux catégories dominent ensemble à </a:t>
            </a:r>
            <a:r>
              <a:rPr b="1"/>
              <a:t>76,6 %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Saisonnalité confirmée — des pics prévisibles à exploiter commercialement</a:t>
            </a:r>
          </a:p>
        </p:txBody>
      </p:sp>
      <p:pic>
        <p:nvPicPr>
          <p:cNvPr descr="figures/29_saisonnalite_mensuel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44700"/>
            <a:ext cx="4038600" cy="167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Saisonnalité mensuelle du CA</a:t>
            </a:r>
          </a:p>
          <a:p>
            <a:pPr lvl="0"/>
            <a:r>
              <a:rPr/>
              <a:t>Saisonnalité </a:t>
            </a:r>
            <a:r>
              <a:rPr b="1"/>
              <a:t>statistiquement confirmée</a:t>
            </a:r>
            <a:r>
              <a:rPr/>
              <a:t> (Kruskal-Wallis, p &lt; 0,001)</a:t>
            </a:r>
          </a:p>
          <a:p>
            <a:pPr lvl="0"/>
            <a:r>
              <a:rPr/>
              <a:t>Pics identifiables et </a:t>
            </a:r>
            <a:r>
              <a:rPr b="1"/>
              <a:t>reproductibles</a:t>
            </a:r>
            <a:r>
              <a:rPr/>
              <a:t> d’une année sur l’autre</a:t>
            </a:r>
          </a:p>
          <a:p>
            <a:pPr lvl="0"/>
            <a:r>
              <a:rPr/>
              <a:t>Les catégories ne suivent </a:t>
            </a:r>
            <a:r>
              <a:rPr b="1"/>
              <a:t>pas la même saisonnalité</a:t>
            </a:r>
            <a:r>
              <a:rPr/>
              <a:t> (Chi², p &lt; 0,001)</a:t>
            </a:r>
          </a:p>
          <a:p>
            <a:pPr lvl="0"/>
            <a:r>
              <a:rPr/>
              <a:t>Lundi = </a:t>
            </a:r>
            <a:r>
              <a:rPr b="1"/>
              <a:t>meilleur jour</a:t>
            </a:r>
            <a:r>
              <a:rPr/>
              <a:t> de CA — Samedi = plus faible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Lundi domine, Samedi décroche — la semaine a une structure claire</a:t>
            </a:r>
          </a:p>
        </p:txBody>
      </p:sp>
      <p:pic>
        <p:nvPicPr>
          <p:cNvPr descr="figures/21_jour_sema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71700"/>
            <a:ext cx="4038600" cy="144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Répartition du CA par jour</a:t>
            </a:r>
          </a:p>
          <a:p>
            <a:pPr lvl="0"/>
            <a:r>
              <a:rPr b="1"/>
              <a:t>Lundi</a:t>
            </a:r>
            <a:r>
              <a:rPr/>
              <a:t> : meilleur jour en CA et en volume</a:t>
            </a:r>
          </a:p>
          <a:p>
            <a:pPr lvl="0"/>
            <a:r>
              <a:rPr b="1"/>
              <a:t>Samedi</a:t>
            </a:r>
            <a:r>
              <a:rPr/>
              <a:t> : jour le plus faible</a:t>
            </a:r>
          </a:p>
          <a:p>
            <a:pPr lvl="0"/>
            <a:r>
              <a:rPr/>
              <a:t>Structure cohérente avec une clientèle </a:t>
            </a:r>
            <a:r>
              <a:rPr b="1"/>
              <a:t>active en semaine</a:t>
            </a:r>
          </a:p>
          <a:p>
            <a:pPr lvl="0"/>
            <a:r>
              <a:rPr/>
              <a:t>Levier : concentrer les communications en </a:t>
            </a:r>
            <a:r>
              <a:rPr b="1"/>
              <a:t>début de semaine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Récurrents majoritaires — la base clients est stable, la fidélisation fonctionne</a:t>
            </a:r>
          </a:p>
        </p:txBody>
      </p:sp>
      <p:pic>
        <p:nvPicPr>
          <p:cNvPr descr="figures/17_nouveaux_recurre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11400"/>
            <a:ext cx="4038600" cy="115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Clients actifs mensuels</a:t>
            </a:r>
          </a:p>
          <a:p>
            <a:pPr lvl="0"/>
            <a:r>
              <a:rPr/>
              <a:t>Moyenne : </a:t>
            </a:r>
            <a:r>
              <a:rPr b="1"/>
              <a:t>5 714 clients actifs / mois</a:t>
            </a:r>
          </a:p>
          <a:p>
            <a:pPr lvl="0"/>
            <a:r>
              <a:rPr b="1"/>
              <a:t>99,7 %</a:t>
            </a:r>
            <a:r>
              <a:rPr/>
              <a:t> des clients ont acheté au moins deux fois</a:t>
            </a:r>
          </a:p>
          <a:p>
            <a:pPr lvl="0"/>
            <a:r>
              <a:rPr/>
              <a:t>Majorité de clients </a:t>
            </a:r>
            <a:r>
              <a:rPr b="1"/>
              <a:t>récurrents</a:t>
            </a:r>
            <a:r>
              <a:rPr/>
              <a:t> sur toute la période</a:t>
            </a:r>
          </a:p>
          <a:p>
            <a:pPr lvl="0"/>
            <a:r>
              <a:rPr/>
              <a:t>Acquisition de nouveaux clients </a:t>
            </a:r>
            <a:r>
              <a:rPr b="1"/>
              <a:t>régulière et stable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Transactions ∝ CA sur 24 mois — aucun effet prix dissocié détectable</a:t>
            </a:r>
          </a:p>
        </p:txBody>
      </p:sp>
      <p:pic>
        <p:nvPicPr>
          <p:cNvPr descr="figures/04_transactions_par_mo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73300"/>
            <a:ext cx="4038600" cy="124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Volume de transactions</a:t>
            </a:r>
          </a:p>
          <a:p>
            <a:pPr lvl="0"/>
            <a:r>
              <a:rPr/>
              <a:t>Total : </a:t>
            </a:r>
            <a:r>
              <a:rPr b="1"/>
              <a:t>679 111 transactions</a:t>
            </a:r>
            <a:r>
              <a:rPr/>
              <a:t> sur 2 ans</a:t>
            </a:r>
          </a:p>
          <a:p>
            <a:pPr lvl="0"/>
            <a:r>
              <a:rPr/>
              <a:t>Moyenne : </a:t>
            </a:r>
            <a:r>
              <a:rPr b="1"/>
              <a:t>28 296 / mois</a:t>
            </a:r>
          </a:p>
          <a:p>
            <a:pPr lvl="0"/>
            <a:r>
              <a:rPr/>
              <a:t>Volume corrélé au CA — </a:t>
            </a:r>
            <a:r>
              <a:rPr b="1"/>
              <a:t>pas d’effet prix dissocié</a:t>
            </a:r>
          </a:p>
          <a:p>
            <a:pPr lvl="0"/>
            <a:r>
              <a:rPr/>
              <a:t>Saisonnalité cohérente avec le CA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Rotation constante — la même fraction du catalogue est active chaque mois</a:t>
            </a:r>
          </a:p>
        </p:txBody>
      </p:sp>
      <p:pic>
        <p:nvPicPr>
          <p:cNvPr descr="figures/05_references_par_mo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73300"/>
            <a:ext cx="4038600" cy="124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Rotation du catalogue</a:t>
            </a:r>
          </a:p>
          <a:p>
            <a:pPr lvl="0"/>
            <a:r>
              <a:rPr/>
              <a:t>Nombre de références actives </a:t>
            </a:r>
            <a:r>
              <a:rPr b="1"/>
              <a:t>stable</a:t>
            </a:r>
          </a:p>
          <a:p>
            <a:pPr lvl="0"/>
            <a:r>
              <a:rPr/>
              <a:t>Fraction </a:t>
            </a:r>
            <a:r>
              <a:rPr b="1"/>
              <a:t>constante</a:t>
            </a:r>
            <a:r>
              <a:rPr/>
              <a:t> du catalogue écoulée chaque mois</a:t>
            </a:r>
          </a:p>
          <a:p>
            <a:pPr lvl="0"/>
            <a:r>
              <a:rPr/>
              <a:t>Pas d’effet de renouvellement visible sur le CA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 10 vs Flop 10 — un écart de CA massif, le catalogue doit être trié</a:t>
            </a:r>
          </a:p>
        </p:txBody>
      </p:sp>
      <p:pic>
        <p:nvPicPr>
          <p:cNvPr descr="figures/06_top_flop_produi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71700"/>
            <a:ext cx="4038600" cy="144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Concentration produits</a:t>
            </a:r>
          </a:p>
          <a:p>
            <a:pPr lvl="0"/>
            <a:r>
              <a:rPr/>
              <a:t>Écart </a:t>
            </a:r>
            <a:r>
              <a:rPr b="1"/>
              <a:t>significatif</a:t>
            </a:r>
            <a:r>
              <a:rPr/>
              <a:t> entre best-sellers et queue de catalogue</a:t>
            </a:r>
          </a:p>
          <a:p>
            <a:pPr lvl="0"/>
            <a:r>
              <a:rPr/>
              <a:t>Les 10 premiers produits concentrent l’essentiel du CA</a:t>
            </a:r>
          </a:p>
          <a:p>
            <a:pPr lvl="0"/>
            <a:r>
              <a:rPr/>
              <a:t>Les produits en bas du classement génèrent peu de valeur et mobilisent des ressources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Pareto confirmé : 20% des références → 80% du CA</a:t>
            </a:r>
          </a:p>
        </p:txBody>
      </p:sp>
      <p:pic>
        <p:nvPicPr>
          <p:cNvPr descr="figures/21_pareto_produi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Pareto 80/20</a:t>
            </a:r>
          </a:p>
          <a:p>
            <a:pPr lvl="0"/>
            <a:r>
              <a:rPr b="1"/>
              <a:t>20 %</a:t>
            </a:r>
            <a:r>
              <a:rPr/>
              <a:t> des références → </a:t>
            </a:r>
            <a:r>
              <a:rPr b="1"/>
              <a:t>80 %</a:t>
            </a:r>
            <a:r>
              <a:rPr/>
              <a:t> du CA</a:t>
            </a:r>
          </a:p>
          <a:p>
            <a:pPr lvl="0"/>
            <a:r>
              <a:rPr/>
              <a:t>Assortiment optimisable en concentrant les efforts sur les références motrices</a:t>
            </a:r>
          </a:p>
          <a:p>
            <a:pPr lvl="0"/>
            <a:r>
              <a:rPr/>
              <a:t>Signal clair pour rationaliser le catalogue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BtoB : 4 clients, 7,4% du CA total — concentration critique à sécuriser</a:t>
            </a:r>
          </a:p>
        </p:txBody>
      </p:sp>
      <p:pic>
        <p:nvPicPr>
          <p:cNvPr descr="figures/08_ca_btob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Segment BtoB</a:t>
            </a:r>
          </a:p>
          <a:p>
            <a:pPr lvl="0"/>
            <a:r>
              <a:rPr/>
              <a:t>Seuil BtoB identifié à </a:t>
            </a:r>
            <a:r>
              <a:rPr b="1"/>
              <a:t>11 743 €</a:t>
            </a:r>
            <a:r>
              <a:rPr/>
              <a:t> de CA cumulé</a:t>
            </a:r>
          </a:p>
          <a:p>
            <a:pPr lvl="0"/>
            <a:r>
              <a:rPr/>
              <a:t>Seulement </a:t>
            </a:r>
            <a:r>
              <a:rPr b="1"/>
              <a:t>4 clients</a:t>
            </a:r>
            <a:r>
              <a:rPr/>
              <a:t> franchissent ce seuil</a:t>
            </a:r>
          </a:p>
          <a:p>
            <a:pPr lvl="0"/>
            <a:r>
              <a:rPr/>
              <a:t>Ces 4 clients génèrent </a:t>
            </a:r>
            <a:r>
              <a:rPr b="1"/>
              <a:t>881 k€</a:t>
            </a:r>
            <a:r>
              <a:rPr/>
              <a:t>, soit </a:t>
            </a:r>
            <a:r>
              <a:rPr b="1"/>
              <a:t>7,4 % du CA total</a:t>
            </a:r>
          </a:p>
          <a:p>
            <a:pPr lvl="0"/>
            <a:r>
              <a:rPr/>
              <a:t>Risque de concentration </a:t>
            </a:r>
            <a:r>
              <a:rPr b="1"/>
              <a:t>critique</a:t>
            </a:r>
            <a:r>
              <a:rPr/>
              <a:t> — perte d’un client BtoB = impact direct et immédiat sur le CA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Gini 0,45 — le CA est modérément concentré sur 20% des clients</a:t>
            </a:r>
          </a:p>
        </p:txBody>
      </p:sp>
      <p:pic>
        <p:nvPicPr>
          <p:cNvPr descr="figures/09_lorenz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Concentration du CA (Lorenz)</a:t>
            </a:r>
          </a:p>
          <a:p>
            <a:pPr lvl="0"/>
            <a:r>
              <a:rPr/>
              <a:t>Coefficient de Gini : </a:t>
            </a:r>
            <a:r>
              <a:rPr b="1"/>
              <a:t>0,446</a:t>
            </a:r>
          </a:p>
          <a:p>
            <a:pPr lvl="0"/>
            <a:r>
              <a:rPr/>
              <a:t>Les </a:t>
            </a:r>
            <a:r>
              <a:rPr b="1"/>
              <a:t>20 %</a:t>
            </a:r>
            <a:r>
              <a:rPr/>
              <a:t> de clients les plus dépensiers génèrent </a:t>
            </a:r>
            <a:r>
              <a:rPr b="1"/>
              <a:t>48,4 %</a:t>
            </a:r>
            <a:r>
              <a:rPr/>
              <a:t> du CA</a:t>
            </a:r>
          </a:p>
          <a:p>
            <a:pPr lvl="0"/>
            <a:r>
              <a:rPr/>
              <a:t>Concentration </a:t>
            </a:r>
            <a:r>
              <a:rPr b="1"/>
              <a:t>modérée</a:t>
            </a:r>
            <a:r>
              <a:rPr/>
              <a:t> — pas d’hyper-dépendance BtoC hors segment BtoB</a:t>
            </a:r>
          </a:p>
          <a:p>
            <a:pPr lvl="0"/>
            <a:r>
              <a:rPr/>
              <a:t>Base clients relativement saine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Rétention : chute dès le 2e mois — J+30 est le moment critique à adresser</a:t>
            </a:r>
          </a:p>
        </p:txBody>
      </p:sp>
      <p:pic>
        <p:nvPicPr>
          <p:cNvPr descr="figures/18_retention_cohor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Analyse de cohortes</a:t>
            </a:r>
          </a:p>
          <a:p>
            <a:pPr lvl="0"/>
            <a:r>
              <a:rPr/>
              <a:t>Rétention </a:t>
            </a:r>
            <a:r>
              <a:rPr b="1"/>
              <a:t>chute fortement</a:t>
            </a:r>
            <a:r>
              <a:rPr/>
              <a:t> dès le 2e mois après l’acquisition</a:t>
            </a:r>
          </a:p>
          <a:p>
            <a:pPr lvl="0"/>
            <a:r>
              <a:rPr/>
              <a:t>Le 1er mois post-acquisition est le </a:t>
            </a:r>
            <a:r>
              <a:rPr b="1"/>
              <a:t>moment le plus risqué</a:t>
            </a:r>
          </a:p>
          <a:p>
            <a:pPr lvl="0"/>
            <a:r>
              <a:rPr/>
              <a:t>Les clients qui passent le cap du 2e achat restent ensuite actifs</a:t>
            </a:r>
          </a:p>
          <a:p>
            <a:pPr lvl="0"/>
            <a:r>
              <a:rPr/>
              <a:t>Priorité : déclencher un </a:t>
            </a:r>
            <a:r>
              <a:rPr b="1"/>
              <a:t>2e achat rapidement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Séniorité = valeur — les anciens clients dépensent plus et achètent plus souvent</a:t>
            </a:r>
          </a:p>
        </p:txBody>
      </p:sp>
      <p:pic>
        <p:nvPicPr>
          <p:cNvPr descr="figures/28_seniorite_c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44700"/>
            <a:ext cx="4038600" cy="167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Séniorité × comportement d’achat</a:t>
            </a:r>
          </a:p>
          <a:p>
            <a:pPr lvl="0"/>
            <a:r>
              <a:rPr/>
              <a:t>Séniorité × CA total : </a:t>
            </a:r>
            <a:r>
              <a:rPr b="1"/>
              <a:t>ρ = 0,479</a:t>
            </a:r>
            <a:r>
              <a:rPr/>
              <a:t> (p &lt; 0,001) — corrélation modérée positive</a:t>
            </a:r>
          </a:p>
          <a:p>
            <a:pPr lvl="0"/>
            <a:r>
              <a:rPr/>
              <a:t>Séniorité × Fréquence : </a:t>
            </a:r>
            <a:r>
              <a:rPr b="1"/>
              <a:t>ρ = 0,546</a:t>
            </a:r>
            <a:r>
              <a:rPr/>
              <a:t> (p &lt; 0,001) — corrélation modérée-forte</a:t>
            </a:r>
          </a:p>
          <a:p>
            <a:pPr lvl="0"/>
            <a:r>
              <a:rPr/>
              <a:t>Plus un client est </a:t>
            </a:r>
            <a:r>
              <a:rPr b="1"/>
              <a:t>ancien</a:t>
            </a:r>
            <a:r>
              <a:rPr/>
              <a:t>, plus il dépense et achète fréquemment</a:t>
            </a:r>
          </a:p>
          <a:p>
            <a:pPr lvl="0"/>
            <a:r>
              <a:rPr/>
              <a:t>La valeur client se </a:t>
            </a:r>
            <a:r>
              <a:rPr b="1"/>
              <a:t>construit dans le temps</a:t>
            </a:r>
            <a:r>
              <a:rPr/>
              <a:t> — investir dans la durée est rentable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RFM : 4 profils distincts — des actions commerciales différenciées par segment</a:t>
            </a:r>
          </a:p>
        </p:txBody>
      </p:sp>
      <p:pic>
        <p:nvPicPr>
          <p:cNvPr descr="figures/19_rf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35200"/>
            <a:ext cx="40386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Segmentation RFM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 moyen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Champions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2 639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2 189 €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Loyaux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1 291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963 €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À risque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1 245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1 464 €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Perdus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2 985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637 €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Potentiels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521 €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 b="1"/>
              <a:t>Perdus</a:t>
            </a:r>
            <a:r>
              <a:rPr/>
              <a:t> = segment le plus large (35%) — enjeu de réactivation</a:t>
            </a:r>
          </a:p>
          <a:p>
            <a:pPr lvl="0"/>
            <a:r>
              <a:rPr b="1"/>
              <a:t>À risque</a:t>
            </a:r>
            <a:r>
              <a:rPr/>
              <a:t> : profil proche des Champions — cible prioritaire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Chi² significatif — le genre influence légèrement la catégorie achetée</a:t>
            </a:r>
          </a:p>
        </p:txBody>
      </p:sp>
      <p:pic>
        <p:nvPicPr>
          <p:cNvPr descr="figures/10_genre_categori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25600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Chi² d’indépendance</a:t>
            </a:r>
          </a:p>
          <a:p>
            <a:pPr lvl="0"/>
            <a:r>
              <a:rPr/>
              <a:t>Chi² = 20,2, </a:t>
            </a:r>
            <a:r>
              <a:rPr b="1"/>
              <a:t>p &lt; 0,001</a:t>
            </a:r>
            <a:r>
              <a:rPr/>
              <a:t> — lien statistiquement significatif</a:t>
            </a:r>
          </a:p>
          <a:p>
            <a:pPr lvl="0"/>
            <a:r>
              <a:rPr b="1"/>
              <a:t>V de Cramér faible</a:t>
            </a:r>
            <a:r>
              <a:rPr/>
              <a:t> — l’effet est réel mais de petite taille</a:t>
            </a:r>
          </a:p>
          <a:p>
            <a:pPr lvl="0"/>
            <a:r>
              <a:rPr/>
              <a:t>Le genre influence marginalement les préférences de catégorie</a:t>
            </a:r>
          </a:p>
          <a:p>
            <a:pPr lvl="0"/>
            <a:r>
              <a:rPr/>
              <a:t>Segmentation par genre : </a:t>
            </a:r>
            <a:r>
              <a:rPr b="1"/>
              <a:t>possible mais à faible ROI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Chi² fort — la tranche d’âge prédit la catégorie achetée</a:t>
            </a:r>
          </a:p>
        </p:txBody>
      </p:sp>
      <p:pic>
        <p:nvPicPr>
          <p:cNvPr descr="figures/14_age_categori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4038600" cy="201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Chi² d’indépendance</a:t>
            </a:r>
          </a:p>
          <a:p>
            <a:pPr lvl="0"/>
            <a:r>
              <a:rPr/>
              <a:t>Chi² très élevé, </a:t>
            </a:r>
            <a:r>
              <a:rPr b="1"/>
              <a:t>p &lt; 0,001</a:t>
            </a:r>
            <a:r>
              <a:rPr/>
              <a:t>, </a:t>
            </a:r>
            <a:r>
              <a:rPr b="1"/>
              <a:t>V de Cramér fort</a:t>
            </a:r>
          </a:p>
          <a:p>
            <a:pPr lvl="0"/>
            <a:r>
              <a:rPr/>
              <a:t>La tranche d’âge est un </a:t>
            </a:r>
            <a:r>
              <a:rPr b="1"/>
              <a:t>prédicteur solide</a:t>
            </a:r>
            <a:r>
              <a:rPr/>
              <a:t> de la catégorie achetée</a:t>
            </a:r>
          </a:p>
          <a:p>
            <a:pPr lvl="0"/>
            <a:r>
              <a:rPr/>
              <a:t>Levier direct pour le </a:t>
            </a:r>
            <a:r>
              <a:rPr b="1"/>
              <a:t>ciblage éditorial</a:t>
            </a:r>
            <a:r>
              <a:rPr/>
              <a:t> par groupe d’âge</a:t>
            </a:r>
          </a:p>
          <a:p>
            <a:pPr lvl="0"/>
            <a:r>
              <a:rPr/>
              <a:t>Recommandation : adapter les mises en avant catalogue selon l’âge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= −0,19 — les clients plus âgés dépensent légèrement moins</a:t>
            </a:r>
          </a:p>
        </p:txBody>
      </p:sp>
      <p:pic>
        <p:nvPicPr>
          <p:cNvPr descr="figures/11_age_ca_to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25600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Corrélation de Pearson</a:t>
            </a:r>
          </a:p>
          <a:p>
            <a:pPr lvl="0"/>
            <a:r>
              <a:rPr/>
              <a:t>r = </a:t>
            </a:r>
            <a:r>
              <a:rPr b="1"/>
              <a:t>−0,188</a:t>
            </a:r>
            <a:r>
              <a:rPr/>
              <a:t>, p &lt; 0,001 — corrélation négative </a:t>
            </a:r>
            <a:r>
              <a:rPr b="1"/>
              <a:t>faible mais réelle</a:t>
            </a:r>
          </a:p>
          <a:p>
            <a:pPr lvl="0"/>
            <a:r>
              <a:rPr/>
              <a:t>En moyenne : </a:t>
            </a:r>
            <a:r>
              <a:rPr b="1"/>
              <a:t>−10,63 € de CA par année d’âge supplémentaire</a:t>
            </a:r>
          </a:p>
          <a:p>
            <a:pPr lvl="0"/>
            <a:r>
              <a:rPr/>
              <a:t>L’effet existe mais il est de faible amplitude</a:t>
            </a:r>
          </a:p>
          <a:p>
            <a:pPr lvl="0"/>
            <a:r>
              <a:rPr/>
              <a:t>L’âge </a:t>
            </a:r>
            <a:r>
              <a:rPr b="1"/>
              <a:t>ne suffit pas</a:t>
            </a:r>
            <a:r>
              <a:rPr/>
              <a:t> à prédire la valeur client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≈ 0 — l’âge ne prédit pas la fréquence d’achat</a:t>
            </a:r>
          </a:p>
        </p:txBody>
      </p:sp>
      <p:pic>
        <p:nvPicPr>
          <p:cNvPr descr="figures/12_age_freque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25600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Corrélation de Pearson</a:t>
            </a:r>
          </a:p>
          <a:p>
            <a:pPr lvl="0"/>
            <a:r>
              <a:rPr/>
              <a:t>r = </a:t>
            </a:r>
            <a:r>
              <a:rPr b="1"/>
              <a:t>0,030</a:t>
            </a:r>
            <a:r>
              <a:rPr/>
              <a:t>, p = 0,005 — techniquement significatif</a:t>
            </a:r>
          </a:p>
          <a:p>
            <a:pPr lvl="0"/>
            <a:r>
              <a:rPr/>
              <a:t>Mais effet </a:t>
            </a:r>
            <a:r>
              <a:rPr b="1"/>
              <a:t>négligeable en pratique</a:t>
            </a:r>
            <a:r>
              <a:rPr/>
              <a:t> (r quasi nul)</a:t>
            </a:r>
          </a:p>
          <a:p>
            <a:pPr lvl="0"/>
            <a:r>
              <a:rPr/>
              <a:t>L’âge </a:t>
            </a:r>
            <a:r>
              <a:rPr b="1"/>
              <a:t>ne détermine pas</a:t>
            </a:r>
            <a:r>
              <a:rPr/>
              <a:t> la fréquence d’achat</a:t>
            </a:r>
          </a:p>
          <a:p>
            <a:pPr lvl="0"/>
            <a:r>
              <a:rPr/>
              <a:t>La fréquence est davantage liée à la </a:t>
            </a:r>
            <a:r>
              <a:rPr b="1"/>
              <a:t>séniorité</a:t>
            </a:r>
            <a:r>
              <a:rPr/>
              <a:t> (ρ = 0,546)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≈ 0 — l’âge ne prédit pas le panier moyen</a:t>
            </a:r>
          </a:p>
        </p:txBody>
      </p:sp>
      <p:pic>
        <p:nvPicPr>
          <p:cNvPr descr="figures/13_age_panier_moy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25600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Corrélation de Pearson</a:t>
            </a:r>
          </a:p>
          <a:p>
            <a:pPr lvl="0"/>
            <a:r>
              <a:rPr/>
              <a:t>Aucune relation entre âge et panier moyen</a:t>
            </a:r>
          </a:p>
          <a:p>
            <a:pPr lvl="0"/>
            <a:r>
              <a:rPr/>
              <a:t>Le montant par transaction est </a:t>
            </a:r>
            <a:r>
              <a:rPr b="1"/>
              <a:t>indépendant de l’âge</a:t>
            </a:r>
          </a:p>
          <a:p>
            <a:pPr lvl="0"/>
            <a:r>
              <a:rPr/>
              <a:t>La </a:t>
            </a:r>
            <a:r>
              <a:rPr b="1"/>
              <a:t>récurrence</a:t>
            </a:r>
            <a:r>
              <a:rPr/>
              <a:t> prime sur le profil démographique pour expliquer la valeur client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Synthèse — Principaux enseignements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Activité</a:t>
            </a:r>
          </a:p>
          <a:p>
            <a:pPr lvl="0"/>
            <a:r>
              <a:rPr/>
              <a:t>✅ CA en croissance sur 2 ans — 11,85 M€ au total</a:t>
            </a:r>
          </a:p>
          <a:p>
            <a:pPr lvl="0"/>
            <a:r>
              <a:rPr/>
              <a:t>✅ Saisonnalité identifiée et exploitable</a:t>
            </a:r>
          </a:p>
          <a:p>
            <a:pPr lvl="0"/>
            <a:r>
              <a:rPr/>
              <a:t>⚠️ Cat. 1 et Cat. 0 dominent à 76,6 % — Cat. 2 décroche</a:t>
            </a:r>
          </a:p>
          <a:p>
            <a:pPr lvl="0"/>
            <a:r>
              <a:rPr/>
              <a:t>⚠️ 20 % des références font 80 % du CA</a:t>
            </a:r>
          </a:p>
          <a:p>
            <a:pPr lvl="0" indent="0" marL="0">
              <a:buNone/>
            </a:pPr>
            <a:r>
              <a:rPr b="1"/>
              <a:t>Clients</a:t>
            </a:r>
          </a:p>
          <a:p>
            <a:pPr lvl="0"/>
            <a:r>
              <a:rPr/>
              <a:t>✅ 99,7 % des clients rachètent</a:t>
            </a:r>
          </a:p>
          <a:p>
            <a:pPr lvl="0"/>
            <a:r>
              <a:rPr/>
              <a:t>✅ La valeur croît avec la séniorité (ρ = 0,546)</a:t>
            </a:r>
          </a:p>
          <a:p>
            <a:pPr lvl="0"/>
            <a:r>
              <a:rPr/>
              <a:t>⚠️ 4 clients BtoB = 7,4 % du CA — risque de concentration</a:t>
            </a:r>
          </a:p>
          <a:p>
            <a:pPr lvl="0"/>
            <a:r>
              <a:rPr/>
              <a:t>⚠️ Rétention chute dès le 2e mois — J+30 critique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Corrélations</a:t>
            </a:r>
          </a:p>
          <a:p>
            <a:pPr lvl="0"/>
            <a:r>
              <a:rPr/>
              <a:t>✅ Tranche d’âge → prédicteur fort de la catégorie (V fort)</a:t>
            </a:r>
          </a:p>
          <a:p>
            <a:pPr lvl="0"/>
            <a:r>
              <a:rPr/>
              <a:t>ℹ️ Genre → effet significatif mais faible sur les catégories</a:t>
            </a:r>
          </a:p>
          <a:p>
            <a:pPr lvl="0"/>
            <a:r>
              <a:rPr/>
              <a:t>ℹ️ Âge → légère corrélation négative avec le CA (r = −0,19)</a:t>
            </a:r>
          </a:p>
          <a:p>
            <a:pPr lvl="0"/>
            <a:r>
              <a:rPr/>
              <a:t>ℹ️ Âge → aucun effet sur la fréquence ou le panier</a:t>
            </a:r>
          </a:p>
          <a:p>
            <a:pPr lvl="0" indent="0" marL="0">
              <a:buNone/>
            </a:pPr>
            <a:r>
              <a:rPr b="1"/>
              <a:t>Signal fort</a:t>
            </a:r>
          </a:p>
          <a:p>
            <a:pPr lvl="0"/>
            <a:r>
              <a:rPr/>
              <a:t>🎯 La </a:t>
            </a:r>
            <a:r>
              <a:rPr b="1"/>
              <a:t>séniorité</a:t>
            </a:r>
            <a:r>
              <a:rPr/>
              <a:t> et la </a:t>
            </a:r>
            <a:r>
              <a:rPr b="1"/>
              <a:t>récurrence</a:t>
            </a:r>
            <a:r>
              <a:rPr/>
              <a:t> — pas l’âge ou le genre — déterminent la valeur client</a:t>
            </a:r>
          </a:p>
          <a:p>
            <a:pPr lvl="0"/>
            <a:r>
              <a:rPr/>
              <a:t>🎯 Le levier n°1 : </a:t>
            </a:r>
            <a:r>
              <a:rPr b="1"/>
              <a:t>faire revenir les clients plus vite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Recommandations — 5 actions prioritaires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🔴 </a:t>
            </a:r>
            <a:r>
              <a:rPr b="1"/>
              <a:t>1 — Sécuriser le BtoB</a:t>
            </a:r>
            <a:r>
              <a:rPr/>
              <a:t> Suivi dédié, contrats cadres pour les 4 clients BtoB </a:t>
            </a:r>
            <a:r>
              <a:rPr i="1"/>
              <a:t>7,4 % du CA sur 4 comptes</a:t>
            </a:r>
          </a:p>
          <a:p>
            <a:pPr lvl="0" indent="0" marL="0">
              <a:buNone/>
            </a:pPr>
            <a:r>
              <a:rPr/>
              <a:t>🔴 </a:t>
            </a:r>
            <a:r>
              <a:rPr b="1"/>
              <a:t>2 — Déclencher le 2e achat sous 30 jours</a:t>
            </a:r>
            <a:r>
              <a:rPr/>
              <a:t> Relance ciblée post-acquisition — email J+7, offre J+30 </a:t>
            </a:r>
            <a:r>
              <a:rPr i="1"/>
              <a:t>Rétention cohortes + RFM</a:t>
            </a:r>
          </a:p>
          <a:p>
            <a:pPr lvl="0" indent="0" marL="0">
              <a:buNone/>
            </a:pPr>
            <a:r>
              <a:rPr/>
              <a:t>🟠 </a:t>
            </a:r>
            <a:r>
              <a:rPr b="1"/>
              <a:t>3 — Concentrer l’assortiment</a:t>
            </a:r>
            <a:r>
              <a:rPr/>
              <a:t> Focus sur les 20 % de références motrices, déréférencer la queue </a:t>
            </a:r>
            <a:r>
              <a:rPr i="1"/>
              <a:t>Pareto + top produits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🟠 </a:t>
            </a:r>
            <a:r>
              <a:rPr b="1"/>
              <a:t>4 — Cibler par tranche d’âge, pas par genre</a:t>
            </a:r>
            <a:r>
              <a:rPr/>
              <a:t> Adapter les mises en avant catalogue selon l’âge — prédicteur validé </a:t>
            </a:r>
            <a:r>
              <a:rPr i="1"/>
              <a:t>Chi² tranche d’âge × catégorie (V fort)</a:t>
            </a:r>
          </a:p>
          <a:p>
            <a:pPr lvl="0" indent="0" marL="0">
              <a:buNone/>
            </a:pPr>
            <a:r>
              <a:rPr/>
              <a:t>🟡 </a:t>
            </a:r>
            <a:r>
              <a:rPr b="1"/>
              <a:t>5 — Activer les segments À risque et Perdus</a:t>
            </a:r>
            <a:r>
              <a:rPr/>
              <a:t> Campagne de réactivation ciblée sur 4 230 clients (RFM) </a:t>
            </a:r>
            <a:r>
              <a:rPr i="1"/>
              <a:t>CA moyen À risque : 1 464 €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Lapage — Analyse e-commerce</dc:title>
  <dc:creator>Analyse Data</dc:creator>
  <cp:keywords/>
  <dcterms:created xsi:type="dcterms:W3CDTF">2026-04-13T11:38:47Z</dcterms:created>
  <dcterms:modified xsi:type="dcterms:W3CDTF">2026-04-13T11:38:47Z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Mars 2021 – Février 2023</vt:lpwstr>
  </property>
  <property fmtid="{D5CDD505-2E9C-101B-9397-08002B2CF9AE}" pid="10" name="toc-title">
    <vt:lpwstr>Table of contents</vt:lpwstr>
  </property>
</Properties>
</file>