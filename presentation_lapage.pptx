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2113"/>
    <a:srgbClr val="264A2B"/>
    <a:srgbClr val="1B35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992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0"/>
            <a:ext cx="12188825" cy="6858000"/>
          </a:xfrm>
          <a:prstGeom prst="rect">
            <a:avLst/>
          </a:prstGeom>
          <a:solidFill>
            <a:srgbClr val="264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dirty="0">
              <a:latin typeface="Aptos Display" panose="020B00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4088" y="872025"/>
            <a:ext cx="9361672" cy="2796726"/>
          </a:xfrm>
        </p:spPr>
        <p:txBody>
          <a:bodyPr>
            <a:noAutofit/>
          </a:bodyPr>
          <a:lstStyle/>
          <a:p>
            <a:pPr lvl="0"/>
            <a:r>
              <a:rPr sz="8000" b="1" dirty="0" err="1">
                <a:solidFill>
                  <a:srgbClr val="FFFFFF"/>
                </a:solidFill>
                <a:latin typeface="Aptos Display" panose="020B0004020202020204" pitchFamily="34" charset="0"/>
              </a:rPr>
              <a:t>Analyse</a:t>
            </a:r>
            <a:r>
              <a:rPr sz="8000" b="1" dirty="0">
                <a:solidFill>
                  <a:srgbClr val="FFFFFF"/>
                </a:solidFill>
                <a:latin typeface="Aptos Display" panose="020B0004020202020204" pitchFamily="34" charset="0"/>
              </a:rPr>
              <a:t> </a:t>
            </a:r>
            <a:r>
              <a:rPr lang="fr-FR" sz="8000" b="1" dirty="0">
                <a:solidFill>
                  <a:srgbClr val="FFFFFF"/>
                </a:solidFill>
                <a:latin typeface="Aptos Display" panose="020B0004020202020204" pitchFamily="34" charset="0"/>
              </a:rPr>
              <a:t>des ventes </a:t>
            </a:r>
            <a:br>
              <a:rPr lang="fr-FR" sz="6600" b="1" dirty="0">
                <a:solidFill>
                  <a:srgbClr val="FFFFFF"/>
                </a:solidFill>
                <a:latin typeface="Aptos Display" panose="020B0004020202020204" pitchFamily="34" charset="0"/>
              </a:rPr>
            </a:br>
            <a:r>
              <a:rPr lang="fr-FR" sz="5400" b="1" dirty="0">
                <a:solidFill>
                  <a:srgbClr val="FFFFFF"/>
                </a:solidFill>
                <a:latin typeface="Aptos Display" panose="020B0004020202020204" pitchFamily="34" charset="0"/>
              </a:rPr>
              <a:t>Librairie </a:t>
            </a:r>
            <a:r>
              <a:rPr lang="fr-FR" sz="5400" b="1" dirty="0" err="1">
                <a:solidFill>
                  <a:srgbClr val="FFFFFF"/>
                </a:solidFill>
                <a:latin typeface="Aptos Display" panose="020B0004020202020204" pitchFamily="34" charset="0"/>
              </a:rPr>
              <a:t>Lapage</a:t>
            </a:r>
            <a:r>
              <a:rPr lang="fr-FR" sz="5400" b="1" dirty="0">
                <a:solidFill>
                  <a:srgbClr val="FFFFFF"/>
                </a:solidFill>
                <a:latin typeface="Aptos Display" panose="020B0004020202020204" pitchFamily="34" charset="0"/>
              </a:rPr>
              <a:t> </a:t>
            </a:r>
            <a:br>
              <a:rPr lang="fr-FR" sz="4000" b="1" dirty="0">
                <a:solidFill>
                  <a:srgbClr val="FFFFFF"/>
                </a:solidFill>
                <a:latin typeface="Aptos Display" panose="020B0004020202020204" pitchFamily="34" charset="0"/>
              </a:rPr>
            </a:br>
            <a:endParaRPr sz="4000" b="1" dirty="0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38270" y="4081346"/>
            <a:ext cx="5553307" cy="17061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800" dirty="0">
                <a:solidFill>
                  <a:srgbClr val="BDC3C7"/>
                </a:solidFill>
                <a:latin typeface="Aptos Light" panose="020B0004020202020204" pitchFamily="34" charset="0"/>
              </a:rPr>
              <a:t>Mars 2021 – Février 2023</a:t>
            </a:r>
            <a:endParaRPr lang="fr-FR" sz="2800" dirty="0">
              <a:solidFill>
                <a:srgbClr val="BDC3C7"/>
              </a:solidFill>
              <a:latin typeface="Aptos Light" panose="020B0004020202020204" pitchFamily="34" charset="0"/>
            </a:endParaRPr>
          </a:p>
          <a:p>
            <a:pPr marL="0" lvl="0" indent="0">
              <a:buNone/>
            </a:pPr>
            <a:r>
              <a:rPr lang="fr-FR" sz="2800" dirty="0">
                <a:solidFill>
                  <a:srgbClr val="BDC3C7"/>
                </a:solidFill>
                <a:latin typeface="Aptos Light" panose="020B0004020202020204" pitchFamily="34" charset="0"/>
              </a:rPr>
              <a:t>Josy Elices-Diez </a:t>
            </a:r>
            <a:br>
              <a:rPr sz="2800" dirty="0">
                <a:latin typeface="Aptos Light" panose="020B0004020202020204" pitchFamily="34" charset="0"/>
              </a:rPr>
            </a:br>
            <a:endParaRPr sz="2800" dirty="0">
              <a:solidFill>
                <a:srgbClr val="BDC3C7"/>
              </a:solidFill>
              <a:latin typeface="Aptos Light" panose="020B00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55648" y="0"/>
            <a:ext cx="3657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atin typeface="Aptos Display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1A9DCE-A2D8-ED50-D7E2-C51093A84E68}"/>
              </a:ext>
            </a:extLst>
          </p:cNvPr>
          <p:cNvSpPr/>
          <p:nvPr/>
        </p:nvSpPr>
        <p:spPr>
          <a:xfrm>
            <a:off x="0" y="0"/>
            <a:ext cx="1755648" cy="6858000"/>
          </a:xfrm>
          <a:prstGeom prst="rect">
            <a:avLst/>
          </a:prstGeom>
          <a:solidFill>
            <a:srgbClr val="112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66344" y="18065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 err="1">
                <a:solidFill>
                  <a:srgbClr val="1C2833"/>
                </a:solidFill>
                <a:latin typeface="Calibri"/>
              </a:rPr>
              <a:t>Contexte</a:t>
            </a:r>
            <a:r>
              <a:rPr sz="4000" b="1" dirty="0">
                <a:solidFill>
                  <a:srgbClr val="1C2833"/>
                </a:solidFill>
                <a:latin typeface="Calibri"/>
              </a:rPr>
              <a:t> &amp; </a:t>
            </a:r>
            <a:r>
              <a:rPr sz="4000" b="1" dirty="0" err="1">
                <a:solidFill>
                  <a:srgbClr val="1C2833"/>
                </a:solidFill>
                <a:latin typeface="Calibri"/>
              </a:rPr>
              <a:t>objectifs</a:t>
            </a:r>
            <a:r>
              <a:rPr sz="4000" b="1" dirty="0">
                <a:solidFill>
                  <a:srgbClr val="1C2833"/>
                </a:solidFill>
                <a:latin typeface="Calibri"/>
              </a:rPr>
              <a:t> de </a:t>
            </a:r>
            <a:r>
              <a:rPr sz="4000" b="1" dirty="0" err="1">
                <a:solidFill>
                  <a:srgbClr val="1C2833"/>
                </a:solidFill>
                <a:latin typeface="Calibri"/>
              </a:rPr>
              <a:t>l’analyse</a:t>
            </a:r>
            <a:endParaRPr sz="4000" b="1" dirty="0">
              <a:solidFill>
                <a:srgbClr val="1C2833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6344" y="1264214"/>
            <a:ext cx="11274552" cy="274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84556"/>
            <a:ext cx="5637212" cy="4836284"/>
          </a:xfrm>
          <a:solidFill>
            <a:srgbClr val="FFFFFF"/>
          </a:solidFill>
          <a:ln w="12700">
            <a:noFill/>
          </a:ln>
        </p:spPr>
        <p:txBody>
          <a:bodyPr wrap="square"/>
          <a:lstStyle/>
          <a:p>
            <a:pPr marL="0" lvl="0" indent="0" algn="l">
              <a:buNone/>
            </a:pPr>
            <a:r>
              <a:rPr sz="1800" b="1" dirty="0">
                <a:solidFill>
                  <a:srgbClr val="1C2833"/>
                </a:solidFill>
                <a:latin typeface="Aptos Display"/>
              </a:rPr>
              <a:t>Lapage est </a:t>
            </a:r>
            <a:r>
              <a:rPr sz="1800" b="1" dirty="0" err="1">
                <a:solidFill>
                  <a:srgbClr val="1C2833"/>
                </a:solidFill>
                <a:latin typeface="Aptos Display"/>
              </a:rPr>
              <a:t>une</a:t>
            </a:r>
            <a:r>
              <a:rPr sz="1800" b="1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1800" b="1" dirty="0" err="1">
                <a:solidFill>
                  <a:srgbClr val="1C2833"/>
                </a:solidFill>
                <a:latin typeface="Aptos Display"/>
              </a:rPr>
              <a:t>librairie</a:t>
            </a:r>
            <a:r>
              <a:rPr sz="1800" b="1" dirty="0">
                <a:solidFill>
                  <a:srgbClr val="1C2833"/>
                </a:solidFill>
                <a:latin typeface="Aptos Display"/>
              </a:rPr>
              <a:t> e-commerce </a:t>
            </a:r>
            <a:r>
              <a:rPr sz="1800" b="1" dirty="0" err="1">
                <a:solidFill>
                  <a:srgbClr val="1C2833"/>
                </a:solidFill>
                <a:latin typeface="Aptos Display"/>
              </a:rPr>
              <a:t>dont</a:t>
            </a:r>
            <a:r>
              <a:rPr sz="1800" b="1" dirty="0">
                <a:solidFill>
                  <a:srgbClr val="1C2833"/>
                </a:solidFill>
                <a:latin typeface="Aptos Display"/>
              </a:rPr>
              <a:t> nous </a:t>
            </a:r>
            <a:r>
              <a:rPr sz="1800" b="1" dirty="0" err="1">
                <a:solidFill>
                  <a:srgbClr val="1C2833"/>
                </a:solidFill>
                <a:latin typeface="Aptos Display"/>
              </a:rPr>
              <a:t>analysons</a:t>
            </a:r>
            <a:r>
              <a:rPr sz="1800" b="1" dirty="0">
                <a:solidFill>
                  <a:srgbClr val="1C2833"/>
                </a:solidFill>
                <a:latin typeface="Aptos Display"/>
              </a:rPr>
              <a:t> 2 </a:t>
            </a:r>
            <a:r>
              <a:rPr sz="1800" b="1" dirty="0" err="1">
                <a:solidFill>
                  <a:srgbClr val="1C2833"/>
                </a:solidFill>
                <a:latin typeface="Aptos Display"/>
              </a:rPr>
              <a:t>ans</a:t>
            </a:r>
            <a:r>
              <a:rPr sz="1800" b="1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1800" b="1" dirty="0" err="1">
                <a:solidFill>
                  <a:srgbClr val="1C2833"/>
                </a:solidFill>
                <a:latin typeface="Aptos Display"/>
              </a:rPr>
              <a:t>d’activité</a:t>
            </a:r>
            <a:r>
              <a:rPr sz="1800" b="1" dirty="0">
                <a:solidFill>
                  <a:srgbClr val="1C2833"/>
                </a:solidFill>
                <a:latin typeface="Aptos Display"/>
              </a:rPr>
              <a:t> pour identifier les leviers de </a:t>
            </a:r>
            <a:r>
              <a:rPr sz="1800" b="1" dirty="0" err="1">
                <a:solidFill>
                  <a:srgbClr val="1C2833"/>
                </a:solidFill>
                <a:latin typeface="Aptos Display"/>
              </a:rPr>
              <a:t>croissance</a:t>
            </a:r>
            <a:r>
              <a:rPr sz="1800" b="1" dirty="0">
                <a:solidFill>
                  <a:srgbClr val="1C2833"/>
                </a:solidFill>
                <a:latin typeface="Aptos Display"/>
              </a:rPr>
              <a:t> et les </a:t>
            </a:r>
            <a:r>
              <a:rPr sz="1800" b="1" dirty="0" err="1">
                <a:solidFill>
                  <a:srgbClr val="1C2833"/>
                </a:solidFill>
                <a:latin typeface="Aptos Display"/>
              </a:rPr>
              <a:t>profils</a:t>
            </a:r>
            <a:r>
              <a:rPr sz="1800" b="1" dirty="0">
                <a:solidFill>
                  <a:srgbClr val="1C2833"/>
                </a:solidFill>
                <a:latin typeface="Aptos Display"/>
              </a:rPr>
              <a:t> clients </a:t>
            </a:r>
            <a:r>
              <a:rPr sz="1800" b="1" dirty="0" err="1">
                <a:solidFill>
                  <a:srgbClr val="1C2833"/>
                </a:solidFill>
                <a:latin typeface="Aptos Display"/>
              </a:rPr>
              <a:t>prioritaires</a:t>
            </a:r>
            <a:r>
              <a:rPr sz="1800" b="1" dirty="0">
                <a:solidFill>
                  <a:srgbClr val="1C2833"/>
                </a:solidFill>
                <a:latin typeface="Aptos Display"/>
              </a:rPr>
              <a:t>.</a:t>
            </a:r>
          </a:p>
          <a:p>
            <a:pPr marL="0" lvl="0" indent="0" algn="l">
              <a:buNone/>
            </a:pPr>
            <a:r>
              <a:rPr sz="1800" b="1" dirty="0">
                <a:solidFill>
                  <a:srgbClr val="1C2833"/>
                </a:solidFill>
                <a:latin typeface="Aptos Display"/>
              </a:rPr>
              <a:t>3 questions </a:t>
            </a:r>
            <a:r>
              <a:rPr sz="1800" b="1" dirty="0" err="1">
                <a:solidFill>
                  <a:srgbClr val="1C2833"/>
                </a:solidFill>
                <a:latin typeface="Aptos Display"/>
              </a:rPr>
              <a:t>structurantes</a:t>
            </a:r>
            <a:r>
              <a:rPr sz="1800" b="1" dirty="0">
                <a:solidFill>
                  <a:srgbClr val="1C2833"/>
                </a:solidFill>
                <a:latin typeface="Aptos Display"/>
              </a:rPr>
              <a:t> :</a:t>
            </a:r>
            <a:endParaRPr lang="fr-FR" sz="1800" b="1" dirty="0">
              <a:solidFill>
                <a:srgbClr val="1C2833"/>
              </a:solidFill>
              <a:latin typeface="Aptos Display"/>
            </a:endParaRPr>
          </a:p>
          <a:p>
            <a:pPr marL="0" lvl="0" indent="0" algn="l">
              <a:buNone/>
            </a:pPr>
            <a:endParaRPr sz="1800" b="1" dirty="0">
              <a:solidFill>
                <a:srgbClr val="1C2833"/>
              </a:solidFill>
              <a:latin typeface="Aptos Display"/>
            </a:endParaRPr>
          </a:p>
          <a:p>
            <a:pPr lvl="0" algn="l"/>
            <a:r>
              <a:rPr sz="1800" dirty="0">
                <a:solidFill>
                  <a:srgbClr val="1C2833"/>
                </a:solidFill>
                <a:latin typeface="Aptos Display"/>
              </a:rPr>
              <a:t>Comment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évolue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l’activité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dans le temps ?</a:t>
            </a:r>
            <a:endParaRPr lang="fr-FR" sz="1800" dirty="0">
              <a:solidFill>
                <a:srgbClr val="1C2833"/>
              </a:solidFill>
              <a:latin typeface="Aptos Display"/>
            </a:endParaRPr>
          </a:p>
          <a:p>
            <a:pPr lvl="0" algn="l"/>
            <a:endParaRPr sz="1800" dirty="0">
              <a:solidFill>
                <a:srgbClr val="1C2833"/>
              </a:solidFill>
              <a:latin typeface="Aptos Display"/>
            </a:endParaRPr>
          </a:p>
          <a:p>
            <a:pPr lvl="0" algn="l"/>
            <a:r>
              <a:rPr sz="1800" dirty="0">
                <a:solidFill>
                  <a:srgbClr val="1C2833"/>
                </a:solidFill>
                <a:latin typeface="Aptos Display"/>
              </a:rPr>
              <a:t>Quels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produits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et clients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génèrent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la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valeur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?</a:t>
            </a:r>
            <a:endParaRPr lang="fr-FR" sz="1800" dirty="0">
              <a:solidFill>
                <a:srgbClr val="1C2833"/>
              </a:solidFill>
              <a:latin typeface="Aptos Display"/>
            </a:endParaRPr>
          </a:p>
          <a:p>
            <a:pPr lvl="0" algn="l"/>
            <a:endParaRPr sz="1800" dirty="0">
              <a:solidFill>
                <a:srgbClr val="1C2833"/>
              </a:solidFill>
              <a:latin typeface="Aptos Display"/>
            </a:endParaRPr>
          </a:p>
          <a:p>
            <a:pPr lvl="0" algn="l"/>
            <a:r>
              <a:rPr sz="1800" dirty="0">
                <a:solidFill>
                  <a:srgbClr val="1C2833"/>
                </a:solidFill>
                <a:latin typeface="Aptos Display"/>
              </a:rPr>
              <a:t>Le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profil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client influence-t-il le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comportement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d’achat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81928" y="1655064"/>
            <a:ext cx="5458968" cy="4124836"/>
          </a:xfrm>
          <a:solidFill>
            <a:srgbClr val="ECF0F1"/>
          </a:solidFill>
          <a:ln w="12700">
            <a:solidFill>
              <a:srgbClr val="BDC3C7"/>
            </a:solidFill>
          </a:ln>
        </p:spPr>
        <p:txBody>
          <a:bodyPr wrap="square"/>
          <a:lstStyle/>
          <a:p>
            <a:pPr marL="0" lvl="0" indent="0" algn="l">
              <a:spcBef>
                <a:spcPts val="3000"/>
              </a:spcBef>
              <a:buNone/>
            </a:pPr>
            <a:r>
              <a:rPr sz="1800" b="1" dirty="0" err="1">
                <a:solidFill>
                  <a:srgbClr val="1C2833"/>
                </a:solidFill>
                <a:latin typeface="Aptos Display"/>
              </a:rPr>
              <a:t>Périmètre</a:t>
            </a:r>
            <a:r>
              <a:rPr sz="1800" b="1" dirty="0">
                <a:solidFill>
                  <a:srgbClr val="1C2833"/>
                </a:solidFill>
                <a:latin typeface="Aptos Display"/>
              </a:rPr>
              <a:t> de </a:t>
            </a:r>
            <a:r>
              <a:rPr sz="1800" b="1" dirty="0" err="1">
                <a:solidFill>
                  <a:srgbClr val="1C2833"/>
                </a:solidFill>
                <a:latin typeface="Aptos Display"/>
              </a:rPr>
              <a:t>l’analyse</a:t>
            </a:r>
            <a:endParaRPr sz="1800" b="1" dirty="0">
              <a:solidFill>
                <a:srgbClr val="1C2833"/>
              </a:solidFill>
              <a:latin typeface="Aptos Display"/>
            </a:endParaRPr>
          </a:p>
          <a:p>
            <a:pPr lvl="0" algn="l"/>
            <a:r>
              <a:rPr sz="1800" b="1" dirty="0" err="1">
                <a:solidFill>
                  <a:srgbClr val="1C2833"/>
                </a:solidFill>
                <a:latin typeface="Aptos Display"/>
              </a:rPr>
              <a:t>Période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— Mars 2021 – Février 2023</a:t>
            </a:r>
          </a:p>
          <a:p>
            <a:pPr lvl="0" algn="l"/>
            <a:r>
              <a:rPr sz="1800" b="1" dirty="0">
                <a:solidFill>
                  <a:srgbClr val="1C2833"/>
                </a:solidFill>
                <a:latin typeface="Aptos Display"/>
              </a:rPr>
              <a:t>Sources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— Clients,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produits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, transactions</a:t>
            </a:r>
          </a:p>
          <a:p>
            <a:pPr lvl="0" algn="l"/>
            <a:r>
              <a:rPr sz="1800" b="1" dirty="0">
                <a:solidFill>
                  <a:srgbClr val="1C2833"/>
                </a:solidFill>
                <a:latin typeface="Aptos Display"/>
              </a:rPr>
              <a:t>Catalogue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— 3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catégories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de livres</a:t>
            </a:r>
          </a:p>
          <a:p>
            <a:pPr lvl="0" algn="l"/>
            <a:r>
              <a:rPr sz="1800" b="1" dirty="0">
                <a:solidFill>
                  <a:srgbClr val="1C2833"/>
                </a:solidFill>
                <a:latin typeface="Aptos Display"/>
              </a:rPr>
              <a:t>Clientèle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—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BtoC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&amp;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BtoB</a:t>
            </a:r>
            <a:endParaRPr lang="fr-FR" sz="1800" dirty="0">
              <a:solidFill>
                <a:srgbClr val="1C2833"/>
              </a:solidFill>
              <a:latin typeface="Aptos Display"/>
            </a:endParaRPr>
          </a:p>
          <a:p>
            <a:pPr lvl="0" algn="l"/>
            <a:endParaRPr lang="fr-FR" sz="1800" dirty="0">
              <a:solidFill>
                <a:srgbClr val="1C2833"/>
              </a:solidFill>
              <a:latin typeface="Aptos Display"/>
            </a:endParaRPr>
          </a:p>
          <a:p>
            <a:pPr lvl="0" algn="l"/>
            <a:r>
              <a:rPr lang="fr-FR" sz="1800" dirty="0">
                <a:solidFill>
                  <a:srgbClr val="1C2833"/>
                </a:solidFill>
                <a:latin typeface="Aptos Display"/>
              </a:rPr>
              <a:t>PIPELINE</a:t>
            </a:r>
          </a:p>
          <a:p>
            <a:r>
              <a:rPr lang="fr-FR" sz="1800" dirty="0"/>
              <a:t>1. [Nettoyage des données]</a:t>
            </a:r>
          </a:p>
          <a:p>
            <a:r>
              <a:rPr lang="fr-FR" sz="1800" dirty="0"/>
              <a:t>2. KPIs &amp; indicateurs commerciaux]</a:t>
            </a:r>
          </a:p>
          <a:p>
            <a:r>
              <a:rPr lang="fr-FR" sz="1800" dirty="0"/>
              <a:t>3. Corrélations comportementales</a:t>
            </a:r>
          </a:p>
          <a:p>
            <a:pPr lvl="0" algn="l"/>
            <a:endParaRPr sz="1800" dirty="0">
              <a:solidFill>
                <a:srgbClr val="1C2833"/>
              </a:solidFill>
              <a:latin typeface="Aptos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s/01_ca_temporel_synthes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1626" y="1698553"/>
            <a:ext cx="7223760" cy="453609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12745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1C2833"/>
                </a:solidFill>
                <a:latin typeface="Calibri"/>
              </a:rPr>
              <a:t>+24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mois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de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hausse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— la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croissance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est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portée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par le volume, le </a:t>
            </a:r>
            <a:r>
              <a:rPr lang="fr-FR" sz="3200" b="1" dirty="0">
                <a:solidFill>
                  <a:srgbClr val="1C2833"/>
                </a:solidFill>
                <a:latin typeface="Calibri"/>
              </a:rPr>
              <a:t>panier moyen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reste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stable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07820"/>
            <a:ext cx="11274552" cy="274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09560" y="1973766"/>
            <a:ext cx="3977639" cy="3859215"/>
          </a:xfrm>
          <a:solidFill>
            <a:srgbClr val="F8F9FA"/>
          </a:solidFill>
          <a:ln w="12700">
            <a:solidFill>
              <a:srgbClr val="D5DBDB"/>
            </a:solidFill>
          </a:ln>
        </p:spPr>
        <p:txBody>
          <a:bodyPr wrap="square"/>
          <a:lstStyle/>
          <a:p>
            <a:pPr marL="0" lvl="0" indent="0" algn="l">
              <a:spcBef>
                <a:spcPts val="3000"/>
              </a:spcBef>
              <a:buNone/>
            </a:pPr>
            <a:r>
              <a:rPr sz="1800" b="1" dirty="0">
                <a:solidFill>
                  <a:srgbClr val="1C2833"/>
                </a:solidFill>
                <a:latin typeface="Aptos Display"/>
              </a:rPr>
              <a:t>Chiffre d’affaires </a:t>
            </a:r>
            <a:r>
              <a:rPr sz="1800" b="1" dirty="0" err="1">
                <a:solidFill>
                  <a:srgbClr val="1C2833"/>
                </a:solidFill>
                <a:latin typeface="Aptos Display"/>
              </a:rPr>
              <a:t>mensuel</a:t>
            </a:r>
            <a:endParaRPr sz="1800" b="1" dirty="0">
              <a:solidFill>
                <a:srgbClr val="1C2833"/>
              </a:solidFill>
              <a:latin typeface="Aptos Display"/>
            </a:endParaRPr>
          </a:p>
          <a:p>
            <a:pPr lvl="0" algn="l"/>
            <a:r>
              <a:rPr sz="1800" dirty="0">
                <a:solidFill>
                  <a:srgbClr val="1C2833"/>
                </a:solidFill>
                <a:latin typeface="Aptos Display"/>
              </a:rPr>
              <a:t>Tendance </a:t>
            </a:r>
            <a:r>
              <a:rPr sz="1800" b="1" dirty="0" err="1">
                <a:solidFill>
                  <a:srgbClr val="1C2833"/>
                </a:solidFill>
                <a:latin typeface="Aptos Display"/>
              </a:rPr>
              <a:t>haussière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sur 2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ans</a:t>
            </a:r>
            <a:endParaRPr sz="1800" dirty="0">
              <a:solidFill>
                <a:srgbClr val="1C2833"/>
              </a:solidFill>
              <a:latin typeface="Aptos Display"/>
            </a:endParaRPr>
          </a:p>
          <a:p>
            <a:pPr lvl="0" algn="l"/>
            <a:r>
              <a:rPr sz="1800" dirty="0" err="1">
                <a:solidFill>
                  <a:srgbClr val="1C2833"/>
                </a:solidFill>
                <a:latin typeface="Aptos Display"/>
              </a:rPr>
              <a:t>Saisonnalité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1800" b="1" dirty="0" err="1">
                <a:solidFill>
                  <a:srgbClr val="1C2833"/>
                </a:solidFill>
                <a:latin typeface="Aptos Display"/>
              </a:rPr>
              <a:t>marquée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et reproductible</a:t>
            </a:r>
          </a:p>
          <a:p>
            <a:pPr lvl="0" algn="l"/>
            <a:r>
              <a:rPr sz="1800" dirty="0">
                <a:solidFill>
                  <a:srgbClr val="1C2833"/>
                </a:solidFill>
                <a:latin typeface="Aptos Display"/>
              </a:rPr>
              <a:t>Panier moyen </a:t>
            </a:r>
            <a:r>
              <a:rPr sz="1800" b="1" dirty="0">
                <a:solidFill>
                  <a:srgbClr val="1C2833"/>
                </a:solidFill>
                <a:latin typeface="Aptos Display"/>
              </a:rPr>
              <a:t>stable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—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croissance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portée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par le volume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s/07_ca_categorie_synthes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0040" y="2214855"/>
            <a:ext cx="7223760" cy="303045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1274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1C2833"/>
                </a:solidFill>
                <a:latin typeface="Calibri"/>
              </a:rPr>
              <a:t>1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catégorie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concentre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la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majorité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du CA</a:t>
            </a:r>
            <a:endParaRPr lang="fr-FR" sz="3200" b="1" dirty="0">
              <a:solidFill>
                <a:srgbClr val="1C2833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194743"/>
            <a:ext cx="11274552" cy="274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09560" y="1996067"/>
            <a:ext cx="3977639" cy="3993253"/>
          </a:xfrm>
          <a:solidFill>
            <a:srgbClr val="F8F9FA"/>
          </a:solidFill>
          <a:ln w="12700">
            <a:solidFill>
              <a:srgbClr val="D5DBDB"/>
            </a:solidFill>
          </a:ln>
        </p:spPr>
        <p:txBody>
          <a:bodyPr wrap="square">
            <a:normAutofit/>
          </a:bodyPr>
          <a:lstStyle/>
          <a:p>
            <a:pPr marL="0" lvl="0" indent="0" algn="l">
              <a:spcBef>
                <a:spcPts val="3000"/>
              </a:spcBef>
              <a:buNone/>
            </a:pPr>
            <a:r>
              <a:rPr sz="1800" b="1" dirty="0" err="1">
                <a:solidFill>
                  <a:srgbClr val="1C2833"/>
                </a:solidFill>
                <a:latin typeface="Aptos Display"/>
              </a:rPr>
              <a:t>Répartition</a:t>
            </a:r>
            <a:r>
              <a:rPr sz="1800" b="1" dirty="0">
                <a:solidFill>
                  <a:srgbClr val="1C2833"/>
                </a:solidFill>
                <a:latin typeface="Aptos Display"/>
              </a:rPr>
              <a:t> par </a:t>
            </a:r>
            <a:r>
              <a:rPr sz="1800" b="1" dirty="0" err="1">
                <a:solidFill>
                  <a:srgbClr val="1C2833"/>
                </a:solidFill>
                <a:latin typeface="Aptos Display"/>
              </a:rPr>
              <a:t>catégorie</a:t>
            </a:r>
            <a:endParaRPr lang="fr-FR" sz="1800" b="1" dirty="0">
              <a:solidFill>
                <a:srgbClr val="1C2833"/>
              </a:solidFill>
              <a:latin typeface="Aptos Display"/>
            </a:endParaRPr>
          </a:p>
          <a:p>
            <a:pPr marL="0" lvl="0" indent="0" algn="l">
              <a:spcBef>
                <a:spcPts val="3000"/>
              </a:spcBef>
              <a:buNone/>
            </a:pPr>
            <a:endParaRPr sz="1800" b="1" dirty="0">
              <a:solidFill>
                <a:srgbClr val="1C2833"/>
              </a:solidFill>
              <a:latin typeface="Aptos Display"/>
            </a:endParaRPr>
          </a:p>
          <a:p>
            <a:pPr lvl="0" algn="l"/>
            <a:r>
              <a:rPr sz="1800" dirty="0" err="1">
                <a:solidFill>
                  <a:srgbClr val="1C2833"/>
                </a:solidFill>
                <a:latin typeface="Aptos Display"/>
              </a:rPr>
              <a:t>Catégorie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0 — </a:t>
            </a:r>
            <a:r>
              <a:rPr sz="1800" b="1" dirty="0" err="1">
                <a:solidFill>
                  <a:srgbClr val="1C2833"/>
                </a:solidFill>
                <a:latin typeface="Aptos Display"/>
              </a:rPr>
              <a:t>majorité</a:t>
            </a:r>
            <a:r>
              <a:rPr sz="1800" b="1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1800" b="1" dirty="0" err="1">
                <a:solidFill>
                  <a:srgbClr val="1C2833"/>
                </a:solidFill>
                <a:latin typeface="Aptos Display"/>
              </a:rPr>
              <a:t>structurelle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du CA</a:t>
            </a:r>
            <a:endParaRPr lang="fr-FR" sz="1800" dirty="0">
              <a:solidFill>
                <a:srgbClr val="1C2833"/>
              </a:solidFill>
              <a:latin typeface="Aptos Display"/>
            </a:endParaRPr>
          </a:p>
          <a:p>
            <a:pPr lvl="0" algn="l"/>
            <a:endParaRPr sz="1800" dirty="0">
              <a:solidFill>
                <a:srgbClr val="1C2833"/>
              </a:solidFill>
              <a:latin typeface="Aptos Display"/>
            </a:endParaRPr>
          </a:p>
          <a:p>
            <a:pPr lvl="0" algn="l"/>
            <a:r>
              <a:rPr sz="1800" dirty="0" err="1">
                <a:solidFill>
                  <a:srgbClr val="1C2833"/>
                </a:solidFill>
                <a:latin typeface="Aptos Display"/>
              </a:rPr>
              <a:t>Catégories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1 et 2 —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secondaires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, peu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différenciées</a:t>
            </a:r>
            <a:endParaRPr lang="fr-FR" sz="1800" dirty="0">
              <a:solidFill>
                <a:srgbClr val="1C2833"/>
              </a:solidFill>
              <a:latin typeface="Aptos Display"/>
            </a:endParaRPr>
          </a:p>
          <a:p>
            <a:pPr lvl="0" algn="l"/>
            <a:endParaRPr sz="1800" dirty="0">
              <a:solidFill>
                <a:srgbClr val="1C2833"/>
              </a:solidFill>
              <a:latin typeface="Aptos Display"/>
            </a:endParaRPr>
          </a:p>
          <a:p>
            <a:pPr lvl="0" algn="l"/>
            <a:r>
              <a:rPr sz="1800" dirty="0" err="1">
                <a:solidFill>
                  <a:srgbClr val="1C2833"/>
                </a:solidFill>
                <a:latin typeface="Aptos Display"/>
              </a:rPr>
              <a:t>Dépendance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forte à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une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seule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catégorie</a:t>
            </a:r>
            <a:endParaRPr sz="1800" dirty="0">
              <a:solidFill>
                <a:srgbClr val="1C2833"/>
              </a:solidFill>
              <a:latin typeface="Aptos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s/03_clients_nouveaux_recurrent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0040" y="2387476"/>
            <a:ext cx="7223760" cy="256968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 err="1">
                <a:solidFill>
                  <a:srgbClr val="1C2833"/>
                </a:solidFill>
                <a:latin typeface="Calibri"/>
              </a:rPr>
              <a:t>Récurrents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majoritaires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— la base clients est stable, la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fidélisation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fonctionne</a:t>
            </a:r>
            <a:endParaRPr sz="3200" b="1" dirty="0">
              <a:solidFill>
                <a:srgbClr val="1C2833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627520"/>
            <a:ext cx="11274552" cy="274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09560" y="2142149"/>
            <a:ext cx="3977639" cy="3227609"/>
          </a:xfrm>
          <a:solidFill>
            <a:srgbClr val="F8F9FA"/>
          </a:solidFill>
          <a:ln w="12700">
            <a:solidFill>
              <a:srgbClr val="D5DBDB"/>
            </a:solidFill>
          </a:ln>
        </p:spPr>
        <p:txBody>
          <a:bodyPr wrap="square"/>
          <a:lstStyle/>
          <a:p>
            <a:pPr marL="0" lvl="0" indent="0" algn="l">
              <a:spcBef>
                <a:spcPts val="3000"/>
              </a:spcBef>
              <a:buNone/>
            </a:pPr>
            <a:r>
              <a:rPr sz="1800" b="1" dirty="0">
                <a:solidFill>
                  <a:srgbClr val="1C2833"/>
                </a:solidFill>
                <a:latin typeface="Aptos Display"/>
              </a:rPr>
              <a:t>Clients </a:t>
            </a:r>
            <a:r>
              <a:rPr sz="1800" b="1" dirty="0" err="1">
                <a:solidFill>
                  <a:srgbClr val="1C2833"/>
                </a:solidFill>
                <a:latin typeface="Aptos Display"/>
              </a:rPr>
              <a:t>actifs</a:t>
            </a:r>
            <a:r>
              <a:rPr sz="1800" b="1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1800" b="1" dirty="0" err="1">
                <a:solidFill>
                  <a:srgbClr val="1C2833"/>
                </a:solidFill>
                <a:latin typeface="Aptos Display"/>
              </a:rPr>
              <a:t>mensuels</a:t>
            </a:r>
            <a:endParaRPr sz="1800" b="1" dirty="0">
              <a:solidFill>
                <a:srgbClr val="1C2833"/>
              </a:solidFill>
              <a:latin typeface="Aptos Display"/>
            </a:endParaRPr>
          </a:p>
          <a:p>
            <a:pPr lvl="0" algn="l"/>
            <a:r>
              <a:rPr sz="1800" dirty="0">
                <a:solidFill>
                  <a:srgbClr val="1C2833"/>
                </a:solidFill>
                <a:latin typeface="Aptos Display"/>
              </a:rPr>
              <a:t>Base active </a:t>
            </a:r>
            <a:r>
              <a:rPr sz="1800" b="1" dirty="0">
                <a:solidFill>
                  <a:srgbClr val="1C2833"/>
                </a:solidFill>
                <a:latin typeface="Aptos Display"/>
              </a:rPr>
              <a:t>stable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sur toute la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période</a:t>
            </a:r>
            <a:endParaRPr sz="1800" dirty="0">
              <a:solidFill>
                <a:srgbClr val="1C2833"/>
              </a:solidFill>
              <a:latin typeface="Aptos Display"/>
            </a:endParaRPr>
          </a:p>
          <a:p>
            <a:pPr lvl="0" algn="l"/>
            <a:r>
              <a:rPr sz="1800" dirty="0" err="1">
                <a:solidFill>
                  <a:srgbClr val="1C2833"/>
                </a:solidFill>
                <a:latin typeface="Aptos Display"/>
              </a:rPr>
              <a:t>Majorité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de clients </a:t>
            </a:r>
            <a:r>
              <a:rPr sz="1800" b="1" dirty="0" err="1">
                <a:solidFill>
                  <a:srgbClr val="1C2833"/>
                </a:solidFill>
                <a:latin typeface="Aptos Display"/>
              </a:rPr>
              <a:t>récurrents</a:t>
            </a:r>
            <a:endParaRPr sz="1800" b="1" dirty="0">
              <a:solidFill>
                <a:srgbClr val="1C2833"/>
              </a:solidFill>
              <a:latin typeface="Aptos Display"/>
            </a:endParaRPr>
          </a:p>
          <a:p>
            <a:pPr lvl="0" algn="l"/>
            <a:r>
              <a:rPr sz="1800" dirty="0" err="1">
                <a:solidFill>
                  <a:srgbClr val="1C2833"/>
                </a:solidFill>
                <a:latin typeface="Aptos Display"/>
              </a:rPr>
              <a:t>Fidélisation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fonctionnelle</a:t>
            </a:r>
            <a:endParaRPr lang="fr-FR" sz="1800" dirty="0">
              <a:solidFill>
                <a:srgbClr val="1C2833"/>
              </a:solidFill>
              <a:latin typeface="Aptos Display"/>
            </a:endParaRPr>
          </a:p>
          <a:p>
            <a:pPr lvl="0" algn="l"/>
            <a:endParaRPr lang="fr-FR" sz="1800" dirty="0">
              <a:solidFill>
                <a:srgbClr val="1C2833"/>
              </a:solidFill>
              <a:latin typeface="Aptos Display"/>
            </a:endParaRPr>
          </a:p>
          <a:p>
            <a:pPr lvl="0" algn="l"/>
            <a:endParaRPr lang="fr-FR" sz="1800" dirty="0">
              <a:solidFill>
                <a:srgbClr val="1C2833"/>
              </a:solidFill>
              <a:latin typeface="Aptos Display"/>
            </a:endParaRPr>
          </a:p>
          <a:p>
            <a:pPr lvl="0" algn="l"/>
            <a:r>
              <a:rPr lang="fr-FR" sz="1800" dirty="0">
                <a:solidFill>
                  <a:srgbClr val="1C2833"/>
                </a:solidFill>
                <a:latin typeface="Aptos Display"/>
              </a:rPr>
              <a:t>PLUS DE NOUVEAUX CLIENTS !!!!</a:t>
            </a:r>
            <a:endParaRPr sz="1800" dirty="0">
              <a:solidFill>
                <a:srgbClr val="1C2833"/>
              </a:solidFill>
              <a:latin typeface="Aptos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s/04_transactions_par_moi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1625" y="2028630"/>
            <a:ext cx="7223760" cy="426846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1C2833"/>
                </a:solidFill>
                <a:latin typeface="Calibri"/>
              </a:rPr>
              <a:t>Transactions ∝ CA sur 24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mois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—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aucun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effet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prix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dissocié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détectable</a:t>
            </a:r>
            <a:endParaRPr sz="3200" b="1" dirty="0">
              <a:solidFill>
                <a:srgbClr val="1C2833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073" y="1611351"/>
            <a:ext cx="11274552" cy="274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62545" y="2062083"/>
            <a:ext cx="4069080" cy="3865237"/>
          </a:xfrm>
          <a:prstGeom prst="rect">
            <a:avLst/>
          </a:prstGeom>
          <a:solidFill>
            <a:srgbClr val="F8F9FA"/>
          </a:solidFill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08265" y="2122969"/>
            <a:ext cx="3977639" cy="3804351"/>
          </a:xfrm>
          <a:solidFill>
            <a:srgbClr val="F8F9FA"/>
          </a:solidFill>
          <a:ln w="12700">
            <a:solidFill>
              <a:srgbClr val="D5DBDB"/>
            </a:solidFill>
          </a:ln>
        </p:spPr>
        <p:txBody>
          <a:bodyPr wrap="square"/>
          <a:lstStyle/>
          <a:p>
            <a:pPr marL="0" lvl="0" indent="0" algn="l">
              <a:spcBef>
                <a:spcPts val="3000"/>
              </a:spcBef>
              <a:buNone/>
            </a:pPr>
            <a:r>
              <a:rPr sz="1800" b="1" dirty="0">
                <a:solidFill>
                  <a:srgbClr val="1C2833"/>
                </a:solidFill>
                <a:latin typeface="Aptos Display"/>
              </a:rPr>
              <a:t>Volume de transactions</a:t>
            </a:r>
          </a:p>
          <a:p>
            <a:pPr lvl="0" algn="l"/>
            <a:r>
              <a:rPr sz="1800" dirty="0">
                <a:solidFill>
                  <a:srgbClr val="1C2833"/>
                </a:solidFill>
                <a:latin typeface="Aptos Display"/>
              </a:rPr>
              <a:t>Volume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corrélé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au CA — </a:t>
            </a:r>
            <a:r>
              <a:rPr sz="1800" b="1" dirty="0">
                <a:solidFill>
                  <a:srgbClr val="1C2833"/>
                </a:solidFill>
                <a:latin typeface="Aptos Display"/>
              </a:rPr>
              <a:t>pas </a:t>
            </a:r>
            <a:r>
              <a:rPr sz="1800" b="1" dirty="0" err="1">
                <a:solidFill>
                  <a:srgbClr val="1C2833"/>
                </a:solidFill>
                <a:latin typeface="Aptos Display"/>
              </a:rPr>
              <a:t>d’effet</a:t>
            </a:r>
            <a:r>
              <a:rPr sz="1800" b="1" dirty="0">
                <a:solidFill>
                  <a:srgbClr val="1C2833"/>
                </a:solidFill>
                <a:latin typeface="Aptos Display"/>
              </a:rPr>
              <a:t> prix </a:t>
            </a:r>
            <a:r>
              <a:rPr sz="1800" b="1" dirty="0" err="1">
                <a:solidFill>
                  <a:srgbClr val="1C2833"/>
                </a:solidFill>
                <a:latin typeface="Aptos Display"/>
              </a:rPr>
              <a:t>dissocié</a:t>
            </a:r>
            <a:endParaRPr sz="1800" b="1" dirty="0">
              <a:solidFill>
                <a:srgbClr val="1C2833"/>
              </a:solidFill>
              <a:latin typeface="Aptos Display"/>
            </a:endParaRPr>
          </a:p>
          <a:p>
            <a:pPr lvl="0" algn="l"/>
            <a:r>
              <a:rPr sz="1800" dirty="0" err="1">
                <a:solidFill>
                  <a:srgbClr val="1C2833"/>
                </a:solidFill>
                <a:latin typeface="Aptos Display"/>
              </a:rPr>
              <a:t>Saisonnalité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cohérente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avec le 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s/05_references_par_moi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0040" y="2017479"/>
            <a:ext cx="7223760" cy="435767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2833"/>
                </a:solidFill>
                <a:latin typeface="Calibri"/>
              </a:rPr>
              <a:t>Rotation constante — la même fraction du catalogue est active chaque mois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870" y="1548904"/>
            <a:ext cx="11274552" cy="274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74153" y="2553183"/>
            <a:ext cx="3657599" cy="3216012"/>
          </a:xfrm>
          <a:solidFill>
            <a:srgbClr val="F8F9FA"/>
          </a:solidFill>
          <a:ln w="12700">
            <a:solidFill>
              <a:srgbClr val="D5DBDB"/>
            </a:solidFill>
          </a:ln>
        </p:spPr>
        <p:txBody>
          <a:bodyPr wrap="square"/>
          <a:lstStyle/>
          <a:p>
            <a:pPr marL="0" lvl="0" indent="0" algn="l">
              <a:spcBef>
                <a:spcPts val="3000"/>
              </a:spcBef>
              <a:buNone/>
            </a:pPr>
            <a:r>
              <a:rPr sz="1800" b="1">
                <a:solidFill>
                  <a:srgbClr val="1C2833"/>
                </a:solidFill>
                <a:latin typeface="Aptos Display"/>
              </a:rPr>
              <a:t>Rotation du catalogue</a:t>
            </a:r>
          </a:p>
          <a:p>
            <a:pPr lvl="0" algn="l"/>
            <a:r>
              <a:rPr sz="1800">
                <a:solidFill>
                  <a:srgbClr val="1C2833"/>
                </a:solidFill>
                <a:latin typeface="Aptos Display"/>
              </a:rPr>
              <a:t>Nombre de références actives </a:t>
            </a:r>
            <a:r>
              <a:rPr sz="1800" b="1">
                <a:solidFill>
                  <a:srgbClr val="1C2833"/>
                </a:solidFill>
                <a:latin typeface="Aptos Display"/>
              </a:rPr>
              <a:t>stable</a:t>
            </a:r>
          </a:p>
          <a:p>
            <a:pPr lvl="0" algn="l"/>
            <a:r>
              <a:rPr sz="1800">
                <a:solidFill>
                  <a:srgbClr val="1C2833"/>
                </a:solidFill>
                <a:latin typeface="Aptos Display"/>
              </a:rPr>
              <a:t>Fraction </a:t>
            </a:r>
            <a:r>
              <a:rPr sz="1800" b="1">
                <a:solidFill>
                  <a:srgbClr val="1C2833"/>
                </a:solidFill>
                <a:latin typeface="Aptos Display"/>
              </a:rPr>
              <a:t>constante</a:t>
            </a:r>
            <a:r>
              <a:rPr sz="1800">
                <a:solidFill>
                  <a:srgbClr val="1C2833"/>
                </a:solidFill>
                <a:latin typeface="Aptos Display"/>
              </a:rPr>
              <a:t> du catalogue écoulée chaque mois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s/06_top_flop_produit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0040" y="2188984"/>
            <a:ext cx="7223760" cy="453185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1C2833"/>
                </a:solidFill>
                <a:latin typeface="Calibri"/>
              </a:rPr>
              <a:t>Top 10 vs Flop 10 — un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écart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de CA massif, le catalogue doit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être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trié</a:t>
            </a:r>
            <a:endParaRPr sz="3200" b="1" dirty="0">
              <a:solidFill>
                <a:srgbClr val="1C2833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524260"/>
            <a:ext cx="11274552" cy="274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54113" y="2188984"/>
            <a:ext cx="3977639" cy="3883301"/>
          </a:xfrm>
          <a:solidFill>
            <a:srgbClr val="F8F9FA"/>
          </a:solidFill>
          <a:ln w="12700">
            <a:solidFill>
              <a:srgbClr val="D5DBDB"/>
            </a:solidFill>
          </a:ln>
        </p:spPr>
        <p:txBody>
          <a:bodyPr wrap="square"/>
          <a:lstStyle/>
          <a:p>
            <a:pPr marL="0" lvl="0" indent="0" algn="l">
              <a:spcBef>
                <a:spcPts val="3000"/>
              </a:spcBef>
              <a:buNone/>
            </a:pPr>
            <a:r>
              <a:rPr sz="1800" b="1">
                <a:solidFill>
                  <a:srgbClr val="1C2833"/>
                </a:solidFill>
                <a:latin typeface="Aptos Display"/>
              </a:rPr>
              <a:t>Concentration produits</a:t>
            </a:r>
          </a:p>
          <a:p>
            <a:pPr lvl="0" algn="l"/>
            <a:r>
              <a:rPr sz="1800">
                <a:solidFill>
                  <a:srgbClr val="1C2833"/>
                </a:solidFill>
                <a:latin typeface="Aptos Display"/>
              </a:rPr>
              <a:t>Écart </a:t>
            </a:r>
            <a:r>
              <a:rPr sz="1800" b="1">
                <a:solidFill>
                  <a:srgbClr val="1C2833"/>
                </a:solidFill>
                <a:latin typeface="Aptos Display"/>
              </a:rPr>
              <a:t>significatif</a:t>
            </a:r>
            <a:r>
              <a:rPr sz="1800">
                <a:solidFill>
                  <a:srgbClr val="1C2833"/>
                </a:solidFill>
                <a:latin typeface="Aptos Display"/>
              </a:rPr>
              <a:t> entre best-sellers et queue de catalogue</a:t>
            </a:r>
          </a:p>
          <a:p>
            <a:pPr lvl="0" algn="l"/>
            <a:r>
              <a:rPr sz="1800">
                <a:solidFill>
                  <a:srgbClr val="1C2833"/>
                </a:solidFill>
                <a:latin typeface="Aptos Display"/>
              </a:rPr>
              <a:t>Les 10 premiers produits concentrent l’essentiel du 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s/21_pareto_produit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0040" y="1493370"/>
            <a:ext cx="7223760" cy="522747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073" y="13493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C2833"/>
                </a:solidFill>
                <a:latin typeface="Calibri"/>
              </a:rPr>
              <a:t>Pareto confirmé : 20% des références → 80% du CA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1917"/>
            <a:ext cx="11274552" cy="274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91146" y="1900390"/>
            <a:ext cx="3977639" cy="3898243"/>
          </a:xfrm>
          <a:solidFill>
            <a:srgbClr val="F8F9FA"/>
          </a:solidFill>
          <a:ln w="12700">
            <a:solidFill>
              <a:srgbClr val="D5DBDB"/>
            </a:solidFill>
          </a:ln>
        </p:spPr>
        <p:txBody>
          <a:bodyPr wrap="square"/>
          <a:lstStyle/>
          <a:p>
            <a:pPr marL="0" lvl="0" indent="0" algn="l">
              <a:spcBef>
                <a:spcPts val="3000"/>
              </a:spcBef>
              <a:buNone/>
            </a:pPr>
            <a:r>
              <a:rPr sz="1800" b="1">
                <a:solidFill>
                  <a:srgbClr val="1C2833"/>
                </a:solidFill>
                <a:latin typeface="Aptos Display"/>
              </a:rPr>
              <a:t>Pareto 80/20</a:t>
            </a:r>
          </a:p>
          <a:p>
            <a:pPr lvl="0" algn="l"/>
            <a:r>
              <a:rPr sz="1800" b="1">
                <a:solidFill>
                  <a:srgbClr val="1C2833"/>
                </a:solidFill>
                <a:latin typeface="Aptos Display"/>
              </a:rPr>
              <a:t>20 %</a:t>
            </a:r>
            <a:r>
              <a:rPr sz="1800">
                <a:solidFill>
                  <a:srgbClr val="1C2833"/>
                </a:solidFill>
                <a:latin typeface="Aptos Display"/>
              </a:rPr>
              <a:t> des références → </a:t>
            </a:r>
            <a:r>
              <a:rPr sz="1800" b="1">
                <a:solidFill>
                  <a:srgbClr val="1C2833"/>
                </a:solidFill>
                <a:latin typeface="Aptos Display"/>
              </a:rPr>
              <a:t>80 %</a:t>
            </a:r>
            <a:r>
              <a:rPr sz="1800">
                <a:solidFill>
                  <a:srgbClr val="1C2833"/>
                </a:solidFill>
                <a:latin typeface="Aptos Display"/>
              </a:rPr>
              <a:t> du CA</a:t>
            </a:r>
          </a:p>
          <a:p>
            <a:pPr lvl="0" algn="l"/>
            <a:r>
              <a:rPr sz="1800">
                <a:solidFill>
                  <a:srgbClr val="1C2833"/>
                </a:solidFill>
                <a:latin typeface="Aptos Display"/>
              </a:rPr>
              <a:t>Assortiment optimisable en concentrant sur les références motrices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s/08_ca_btob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6953" y="1709928"/>
            <a:ext cx="6214575" cy="470672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 err="1">
                <a:solidFill>
                  <a:srgbClr val="1C2833"/>
                </a:solidFill>
                <a:latin typeface="Calibri"/>
              </a:rPr>
              <a:t>BtoB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: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quelques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clients,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l’essentiel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du CA —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risque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de concentration critique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4732"/>
            <a:ext cx="11274552" cy="274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64233" y="2329388"/>
            <a:ext cx="3977639" cy="3467806"/>
          </a:xfrm>
          <a:solidFill>
            <a:srgbClr val="F8F9FA"/>
          </a:solidFill>
          <a:ln w="12700">
            <a:solidFill>
              <a:srgbClr val="D5DBDB"/>
            </a:solidFill>
          </a:ln>
        </p:spPr>
        <p:txBody>
          <a:bodyPr wrap="square"/>
          <a:lstStyle/>
          <a:p>
            <a:pPr marL="0" lvl="0" indent="0" algn="l">
              <a:spcBef>
                <a:spcPts val="3000"/>
              </a:spcBef>
              <a:buNone/>
            </a:pPr>
            <a:r>
              <a:rPr sz="1800" b="1">
                <a:solidFill>
                  <a:srgbClr val="1C2833"/>
                </a:solidFill>
                <a:latin typeface="Aptos Display"/>
              </a:rPr>
              <a:t>Segment BtoB</a:t>
            </a:r>
          </a:p>
          <a:p>
            <a:pPr lvl="0" algn="l"/>
            <a:r>
              <a:rPr sz="1800">
                <a:solidFill>
                  <a:srgbClr val="1C2833"/>
                </a:solidFill>
                <a:latin typeface="Aptos Display"/>
              </a:rPr>
              <a:t>Segment </a:t>
            </a:r>
            <a:r>
              <a:rPr sz="1800" b="1">
                <a:solidFill>
                  <a:srgbClr val="1C2833"/>
                </a:solidFill>
                <a:latin typeface="Aptos Display"/>
              </a:rPr>
              <a:t>restreint</a:t>
            </a:r>
            <a:r>
              <a:rPr sz="1800">
                <a:solidFill>
                  <a:srgbClr val="1C2833"/>
                </a:solidFill>
                <a:latin typeface="Aptos Display"/>
              </a:rPr>
              <a:t>, part </a:t>
            </a:r>
            <a:r>
              <a:rPr sz="1800" b="1">
                <a:solidFill>
                  <a:srgbClr val="1C2833"/>
                </a:solidFill>
                <a:latin typeface="Aptos Display"/>
              </a:rPr>
              <a:t>disproportionnée</a:t>
            </a:r>
            <a:r>
              <a:rPr sz="1800">
                <a:solidFill>
                  <a:srgbClr val="1C2833"/>
                </a:solidFill>
                <a:latin typeface="Aptos Display"/>
              </a:rPr>
              <a:t> du CA</a:t>
            </a:r>
          </a:p>
          <a:p>
            <a:pPr lvl="0" algn="l"/>
            <a:r>
              <a:rPr sz="1800">
                <a:solidFill>
                  <a:srgbClr val="1C2833"/>
                </a:solidFill>
                <a:latin typeface="Aptos Display"/>
              </a:rPr>
              <a:t>Risque de concentration élevé — à sécuriser en priorité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s/09_lorenz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6410" y="1624076"/>
            <a:ext cx="6367346" cy="506933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1C2833"/>
                </a:solidFill>
                <a:latin typeface="Calibri"/>
              </a:rPr>
              <a:t>Gini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élevé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— le CA est très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concentré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sur un petit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nombre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de clients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37031"/>
            <a:ext cx="11274552" cy="274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54113" y="2119847"/>
            <a:ext cx="3977639" cy="3578426"/>
          </a:xfrm>
          <a:solidFill>
            <a:srgbClr val="F8F9FA"/>
          </a:solidFill>
          <a:ln w="12700">
            <a:solidFill>
              <a:srgbClr val="D5DBDB"/>
            </a:solidFill>
          </a:ln>
        </p:spPr>
        <p:txBody>
          <a:bodyPr wrap="square"/>
          <a:lstStyle/>
          <a:p>
            <a:pPr marL="0" lvl="0" indent="0" algn="l">
              <a:spcBef>
                <a:spcPts val="3000"/>
              </a:spcBef>
              <a:buNone/>
            </a:pPr>
            <a:r>
              <a:rPr sz="1800" b="1">
                <a:solidFill>
                  <a:srgbClr val="1C2833"/>
                </a:solidFill>
                <a:latin typeface="Aptos Display"/>
              </a:rPr>
              <a:t>Inégalité de répartition</a:t>
            </a:r>
          </a:p>
          <a:p>
            <a:pPr lvl="0" algn="l"/>
            <a:r>
              <a:rPr sz="1800">
                <a:solidFill>
                  <a:srgbClr val="1C2833"/>
                </a:solidFill>
                <a:latin typeface="Aptos Display"/>
              </a:rPr>
              <a:t>Coefficient de Gini </a:t>
            </a:r>
            <a:r>
              <a:rPr sz="1800" b="1">
                <a:solidFill>
                  <a:srgbClr val="1C2833"/>
                </a:solidFill>
                <a:latin typeface="Aptos Display"/>
              </a:rPr>
              <a:t>élevé</a:t>
            </a:r>
          </a:p>
          <a:p>
            <a:pPr lvl="0" algn="l"/>
            <a:r>
              <a:rPr sz="1800">
                <a:solidFill>
                  <a:srgbClr val="1C2833"/>
                </a:solidFill>
                <a:latin typeface="Aptos Display"/>
              </a:rPr>
              <a:t>CA très concentré sur un </a:t>
            </a:r>
            <a:r>
              <a:rPr sz="1800" b="1">
                <a:solidFill>
                  <a:srgbClr val="1C2833"/>
                </a:solidFill>
                <a:latin typeface="Aptos Display"/>
              </a:rPr>
              <a:t>petit nombre</a:t>
            </a:r>
            <a:r>
              <a:rPr sz="1800">
                <a:solidFill>
                  <a:srgbClr val="1C2833"/>
                </a:solidFill>
                <a:latin typeface="Aptos Display"/>
              </a:rPr>
              <a:t> de clients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s/10_top_client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0040" y="2034651"/>
            <a:ext cx="7223760" cy="436280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1C2833"/>
                </a:solidFill>
                <a:latin typeface="Calibri"/>
              </a:rPr>
              <a:t>Top 20 : 4 clients se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démarquent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nettement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—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enjeu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stratégique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prioritaire</a:t>
            </a:r>
            <a:endParaRPr sz="3200" b="1" dirty="0">
              <a:solidFill>
                <a:srgbClr val="1C2833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548904"/>
            <a:ext cx="11274552" cy="274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09560" y="2034651"/>
            <a:ext cx="3977639" cy="4022022"/>
          </a:xfrm>
          <a:solidFill>
            <a:srgbClr val="F8F9FA"/>
          </a:solidFill>
          <a:ln w="12700">
            <a:solidFill>
              <a:srgbClr val="D5DBDB"/>
            </a:solidFill>
          </a:ln>
        </p:spPr>
        <p:txBody>
          <a:bodyPr wrap="square"/>
          <a:lstStyle/>
          <a:p>
            <a:pPr marL="0" lvl="0" indent="0" algn="l">
              <a:spcBef>
                <a:spcPts val="3000"/>
              </a:spcBef>
              <a:buNone/>
            </a:pPr>
            <a:r>
              <a:rPr sz="1800" b="1">
                <a:solidFill>
                  <a:srgbClr val="1C2833"/>
                </a:solidFill>
                <a:latin typeface="Aptos Display"/>
              </a:rPr>
              <a:t>Top 20 clients</a:t>
            </a:r>
          </a:p>
          <a:p>
            <a:pPr lvl="0" algn="l"/>
            <a:r>
              <a:rPr sz="1800" b="1">
                <a:solidFill>
                  <a:srgbClr val="1C2833"/>
                </a:solidFill>
                <a:latin typeface="Aptos Display"/>
              </a:rPr>
              <a:t>Décrochage net</a:t>
            </a:r>
            <a:r>
              <a:rPr sz="1800">
                <a:solidFill>
                  <a:srgbClr val="1C2833"/>
                </a:solidFill>
                <a:latin typeface="Aptos Display"/>
              </a:rPr>
              <a:t> entre les 4 premiers et le reste</a:t>
            </a:r>
          </a:p>
          <a:p>
            <a:pPr lvl="0" algn="l"/>
            <a:r>
              <a:rPr sz="1800">
                <a:solidFill>
                  <a:srgbClr val="1C2833"/>
                </a:solidFill>
                <a:latin typeface="Aptos Display"/>
              </a:rPr>
              <a:t>Ces 4 clients = enjeu stratégique à part entière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s/22_oneshot_vs_recurrent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65728" y="1595198"/>
            <a:ext cx="6392994" cy="509821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2833"/>
                </a:solidFill>
                <a:latin typeface="Calibri"/>
              </a:rPr>
              <a:t>Clients one-shot : 1 achat, jamais revenus — levier d’activation direct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81636"/>
            <a:ext cx="11274552" cy="274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54113" y="1903736"/>
            <a:ext cx="3977639" cy="4013324"/>
          </a:xfrm>
          <a:solidFill>
            <a:srgbClr val="F8F9FA"/>
          </a:solidFill>
          <a:ln w="12700">
            <a:solidFill>
              <a:srgbClr val="D5DBDB"/>
            </a:solidFill>
          </a:ln>
        </p:spPr>
        <p:txBody>
          <a:bodyPr wrap="square"/>
          <a:lstStyle/>
          <a:p>
            <a:pPr marL="0" lvl="0" indent="0" algn="l">
              <a:spcBef>
                <a:spcPts val="3000"/>
              </a:spcBef>
              <a:buNone/>
            </a:pPr>
            <a:r>
              <a:rPr sz="1800" b="1">
                <a:solidFill>
                  <a:srgbClr val="1C2833"/>
                </a:solidFill>
                <a:latin typeface="Aptos Display"/>
              </a:rPr>
              <a:t>Taux de fidélisation</a:t>
            </a:r>
          </a:p>
          <a:p>
            <a:pPr lvl="0" algn="l"/>
            <a:r>
              <a:rPr sz="1800">
                <a:solidFill>
                  <a:srgbClr val="1C2833"/>
                </a:solidFill>
                <a:latin typeface="Aptos Display"/>
              </a:rPr>
              <a:t>Part </a:t>
            </a:r>
            <a:r>
              <a:rPr sz="1800" b="1">
                <a:solidFill>
                  <a:srgbClr val="1C2833"/>
                </a:solidFill>
                <a:latin typeface="Aptos Display"/>
              </a:rPr>
              <a:t>significative</a:t>
            </a:r>
            <a:r>
              <a:rPr sz="1800">
                <a:solidFill>
                  <a:srgbClr val="1C2833"/>
                </a:solidFill>
                <a:latin typeface="Aptos Display"/>
              </a:rPr>
              <a:t> de clients achetant une seule fois</a:t>
            </a:r>
          </a:p>
          <a:p>
            <a:pPr lvl="0" algn="l"/>
            <a:r>
              <a:rPr sz="1800">
                <a:solidFill>
                  <a:srgbClr val="1C2833"/>
                </a:solidFill>
                <a:latin typeface="Aptos Display"/>
              </a:rPr>
              <a:t>Segment one-shot = </a:t>
            </a:r>
            <a:r>
              <a:rPr sz="1800" b="1">
                <a:solidFill>
                  <a:srgbClr val="1C2833"/>
                </a:solidFill>
                <a:latin typeface="Aptos Display"/>
              </a:rPr>
              <a:t>levier d’activation direct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s/22b_recurrence_approfondi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0040" y="2309418"/>
            <a:ext cx="7223760" cy="418527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C2833"/>
                </a:solidFill>
                <a:latin typeface="Calibri"/>
              </a:rPr>
              <a:t>Fréquence × valeur — le CA croît linéairement avec la récurrence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136" y="1805382"/>
            <a:ext cx="11274552" cy="274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91146" y="2309418"/>
            <a:ext cx="3977639" cy="3734543"/>
          </a:xfrm>
          <a:solidFill>
            <a:srgbClr val="F8F9FA"/>
          </a:solidFill>
          <a:ln w="12700">
            <a:solidFill>
              <a:srgbClr val="D5DBDB"/>
            </a:solidFill>
          </a:ln>
        </p:spPr>
        <p:txBody>
          <a:bodyPr wrap="square"/>
          <a:lstStyle/>
          <a:p>
            <a:pPr marL="0" lvl="0" indent="0" algn="l">
              <a:spcBef>
                <a:spcPts val="3000"/>
              </a:spcBef>
              <a:buNone/>
            </a:pPr>
            <a:r>
              <a:rPr sz="1800" b="1">
                <a:solidFill>
                  <a:srgbClr val="1C2833"/>
                </a:solidFill>
                <a:latin typeface="Aptos Display"/>
              </a:rPr>
              <a:t>Valeur de la récurrence</a:t>
            </a:r>
          </a:p>
          <a:p>
            <a:pPr lvl="0" algn="l"/>
            <a:r>
              <a:rPr sz="1800">
                <a:solidFill>
                  <a:srgbClr val="1C2833"/>
                </a:solidFill>
                <a:latin typeface="Aptos Display"/>
              </a:rPr>
              <a:t>CA total </a:t>
            </a:r>
            <a:r>
              <a:rPr sz="1800" b="1">
                <a:solidFill>
                  <a:srgbClr val="1C2833"/>
                </a:solidFill>
                <a:latin typeface="Aptos Display"/>
              </a:rPr>
              <a:t>croît linéairement</a:t>
            </a:r>
            <a:r>
              <a:rPr sz="1800">
                <a:solidFill>
                  <a:srgbClr val="1C2833"/>
                </a:solidFill>
                <a:latin typeface="Aptos Display"/>
              </a:rPr>
              <a:t> avec la fréquence</a:t>
            </a:r>
          </a:p>
          <a:p>
            <a:pPr lvl="0" algn="l"/>
            <a:r>
              <a:rPr sz="1800">
                <a:solidFill>
                  <a:srgbClr val="1C2833"/>
                </a:solidFill>
                <a:latin typeface="Aptos Display"/>
              </a:rPr>
              <a:t>Fidélisation directement et </a:t>
            </a:r>
            <a:r>
              <a:rPr sz="1800" b="1">
                <a:solidFill>
                  <a:srgbClr val="1C2833"/>
                </a:solidFill>
                <a:latin typeface="Aptos Display"/>
              </a:rPr>
              <a:t>linéairement</a:t>
            </a:r>
            <a:r>
              <a:rPr sz="1800">
                <a:solidFill>
                  <a:srgbClr val="1C2833"/>
                </a:solidFill>
                <a:latin typeface="Aptos Display"/>
              </a:rPr>
              <a:t> rentable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s/23_rfm_segment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0040" y="2023500"/>
            <a:ext cx="7223760" cy="449661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2833"/>
                </a:solidFill>
                <a:latin typeface="Calibri"/>
              </a:rPr>
              <a:t>RFM : 4 profils distincts — des actions commerciales différenciées par segment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073" y="1514447"/>
            <a:ext cx="11274552" cy="274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91146" y="2224222"/>
            <a:ext cx="3977639" cy="3857207"/>
          </a:xfrm>
          <a:solidFill>
            <a:srgbClr val="F8F9FA"/>
          </a:solidFill>
          <a:ln w="12700">
            <a:solidFill>
              <a:srgbClr val="D5DBDB"/>
            </a:solidFill>
          </a:ln>
        </p:spPr>
        <p:txBody>
          <a:bodyPr wrap="square"/>
          <a:lstStyle/>
          <a:p>
            <a:pPr marL="0" lvl="0" indent="0" algn="l">
              <a:spcBef>
                <a:spcPts val="3000"/>
              </a:spcBef>
              <a:buNone/>
            </a:pPr>
            <a:r>
              <a:rPr sz="1800" b="1" dirty="0">
                <a:solidFill>
                  <a:srgbClr val="1C2833"/>
                </a:solidFill>
                <a:latin typeface="Aptos Display"/>
              </a:rPr>
              <a:t>RFM (Recency · Frequency · Monetary)</a:t>
            </a:r>
          </a:p>
          <a:p>
            <a:pPr lvl="0" algn="l"/>
            <a:r>
              <a:rPr sz="1800" dirty="0">
                <a:solidFill>
                  <a:srgbClr val="1C2833"/>
                </a:solidFill>
                <a:latin typeface="Aptos Display"/>
              </a:rPr>
              <a:t>Clients à fort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potentiel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, à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risque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,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inactifs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— </a:t>
            </a:r>
            <a:r>
              <a:rPr sz="1800" b="1" dirty="0" err="1">
                <a:solidFill>
                  <a:srgbClr val="1C2833"/>
                </a:solidFill>
                <a:latin typeface="Aptos Display"/>
              </a:rPr>
              <a:t>identifiés</a:t>
            </a:r>
            <a:endParaRPr sz="1800" b="1" dirty="0">
              <a:solidFill>
                <a:srgbClr val="1C2833"/>
              </a:solidFill>
              <a:latin typeface="Aptos Display"/>
            </a:endParaRPr>
          </a:p>
          <a:p>
            <a:pPr lvl="0" algn="l"/>
            <a:r>
              <a:rPr sz="1800" dirty="0" err="1">
                <a:solidFill>
                  <a:srgbClr val="1C2833"/>
                </a:solidFill>
                <a:latin typeface="Aptos Display"/>
              </a:rPr>
              <a:t>Chaque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segment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appelle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une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1800" b="1" dirty="0">
                <a:solidFill>
                  <a:srgbClr val="1C2833"/>
                </a:solidFill>
                <a:latin typeface="Aptos Display"/>
              </a:rPr>
              <a:t>action </a:t>
            </a:r>
            <a:r>
              <a:rPr sz="1800" b="1" dirty="0" err="1">
                <a:solidFill>
                  <a:srgbClr val="1C2833"/>
                </a:solidFill>
                <a:latin typeface="Aptos Display"/>
              </a:rPr>
              <a:t>commerciale</a:t>
            </a:r>
            <a:r>
              <a:rPr sz="1800" b="1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1800" b="1" dirty="0" err="1">
                <a:solidFill>
                  <a:srgbClr val="1C2833"/>
                </a:solidFill>
                <a:latin typeface="Aptos Display"/>
              </a:rPr>
              <a:t>spécifique</a:t>
            </a:r>
            <a:endParaRPr sz="1800" b="1" dirty="0">
              <a:solidFill>
                <a:srgbClr val="1C2833"/>
              </a:solidFill>
              <a:latin typeface="Aptos Displ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s/24_cohortes_reten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0040" y="1878534"/>
            <a:ext cx="7223760" cy="484230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 err="1">
                <a:solidFill>
                  <a:srgbClr val="1C2833"/>
                </a:solidFill>
                <a:latin typeface="Calibri"/>
              </a:rPr>
              <a:t>Rétention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: chute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dès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le 2e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mois</a:t>
            </a:r>
            <a:r>
              <a:rPr sz="3200" b="1" dirty="0">
                <a:solidFill>
                  <a:srgbClr val="1C2833"/>
                </a:solidFill>
                <a:latin typeface="Calibri"/>
              </a:rPr>
              <a:t> — J+30 est le moment critique à </a:t>
            </a:r>
            <a:r>
              <a:rPr sz="3200" b="1" dirty="0" err="1">
                <a:solidFill>
                  <a:srgbClr val="1C2833"/>
                </a:solidFill>
                <a:latin typeface="Calibri"/>
              </a:rPr>
              <a:t>adresser</a:t>
            </a:r>
            <a:endParaRPr sz="3200" b="1" dirty="0">
              <a:solidFill>
                <a:srgbClr val="1C2833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459694"/>
            <a:ext cx="11274552" cy="274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75384" y="2059852"/>
            <a:ext cx="3977639" cy="4014439"/>
          </a:xfrm>
          <a:solidFill>
            <a:srgbClr val="F8F9FA"/>
          </a:solidFill>
          <a:ln w="12700">
            <a:solidFill>
              <a:srgbClr val="D5DBDB"/>
            </a:solidFill>
          </a:ln>
        </p:spPr>
        <p:txBody>
          <a:bodyPr wrap="square"/>
          <a:lstStyle/>
          <a:p>
            <a:pPr marL="0" lvl="0" indent="0" algn="l">
              <a:spcBef>
                <a:spcPts val="3000"/>
              </a:spcBef>
              <a:buNone/>
            </a:pPr>
            <a:r>
              <a:rPr sz="1800" b="1">
                <a:solidFill>
                  <a:srgbClr val="1C2833"/>
                </a:solidFill>
                <a:latin typeface="Aptos Display"/>
              </a:rPr>
              <a:t>Analyse de cohortes</a:t>
            </a:r>
          </a:p>
          <a:p>
            <a:pPr lvl="0" algn="l"/>
            <a:r>
              <a:rPr sz="1800">
                <a:solidFill>
                  <a:srgbClr val="1C2833"/>
                </a:solidFill>
                <a:latin typeface="Aptos Display"/>
              </a:rPr>
              <a:t>Rétention </a:t>
            </a:r>
            <a:r>
              <a:rPr sz="1800" b="1">
                <a:solidFill>
                  <a:srgbClr val="1C2833"/>
                </a:solidFill>
                <a:latin typeface="Aptos Display"/>
              </a:rPr>
              <a:t>chute fortement</a:t>
            </a:r>
            <a:r>
              <a:rPr sz="1800">
                <a:solidFill>
                  <a:srgbClr val="1C2833"/>
                </a:solidFill>
                <a:latin typeface="Aptos Display"/>
              </a:rPr>
              <a:t> dès le 2e mois</a:t>
            </a:r>
          </a:p>
          <a:p>
            <a:pPr lvl="0" algn="l"/>
            <a:r>
              <a:rPr sz="1800">
                <a:solidFill>
                  <a:srgbClr val="1C2833"/>
                </a:solidFill>
                <a:latin typeface="Aptos Display"/>
              </a:rPr>
              <a:t>1er mois post-acquisition = </a:t>
            </a:r>
            <a:r>
              <a:rPr sz="1800" b="1">
                <a:solidFill>
                  <a:srgbClr val="1C2833"/>
                </a:solidFill>
                <a:latin typeface="Aptos Display"/>
              </a:rPr>
              <a:t>moment critique</a:t>
            </a:r>
            <a:r>
              <a:rPr sz="1800">
                <a:solidFill>
                  <a:srgbClr val="1C2833"/>
                </a:solidFill>
                <a:latin typeface="Aptos Display"/>
              </a:rPr>
              <a:t> à adresser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s/14_genre_categ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0040" y="2029522"/>
            <a:ext cx="7223760" cy="469131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2833"/>
                </a:solidFill>
                <a:latin typeface="Calibri"/>
              </a:rPr>
              <a:t>Chi² non significatif — le genre ne détermine pas la catégorie achetée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8606"/>
            <a:ext cx="11274552" cy="274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91146" y="2257676"/>
            <a:ext cx="3977639" cy="3988791"/>
          </a:xfrm>
          <a:solidFill>
            <a:srgbClr val="F8F9FA"/>
          </a:solidFill>
          <a:ln w="12700">
            <a:solidFill>
              <a:srgbClr val="D5DBDB"/>
            </a:solidFill>
          </a:ln>
        </p:spPr>
        <p:txBody>
          <a:bodyPr wrap="square"/>
          <a:lstStyle/>
          <a:p>
            <a:pPr marL="0" lvl="0" indent="0" algn="l">
              <a:spcBef>
                <a:spcPts val="3000"/>
              </a:spcBef>
              <a:buNone/>
            </a:pPr>
            <a:r>
              <a:rPr sz="1800" b="1">
                <a:solidFill>
                  <a:srgbClr val="1C2833"/>
                </a:solidFill>
                <a:latin typeface="Aptos Display"/>
              </a:rPr>
              <a:t>Test Chi² d’indépendance</a:t>
            </a:r>
          </a:p>
          <a:p>
            <a:pPr lvl="0" algn="l"/>
            <a:r>
              <a:rPr sz="1800">
                <a:solidFill>
                  <a:srgbClr val="1C2833"/>
                </a:solidFill>
                <a:latin typeface="Aptos Display"/>
              </a:rPr>
              <a:t>Le genre </a:t>
            </a:r>
            <a:r>
              <a:rPr sz="1800" b="1">
                <a:solidFill>
                  <a:srgbClr val="1C2833"/>
                </a:solidFill>
                <a:latin typeface="Aptos Display"/>
              </a:rPr>
              <a:t>n’influence pas</a:t>
            </a:r>
            <a:r>
              <a:rPr sz="1800">
                <a:solidFill>
                  <a:srgbClr val="1C2833"/>
                </a:solidFill>
                <a:latin typeface="Aptos Display"/>
              </a:rPr>
              <a:t> la catégorie achetée</a:t>
            </a:r>
          </a:p>
          <a:p>
            <a:pPr lvl="0" algn="l"/>
            <a:r>
              <a:rPr sz="1800">
                <a:solidFill>
                  <a:srgbClr val="1C2833"/>
                </a:solidFill>
                <a:latin typeface="Aptos Display"/>
              </a:rPr>
              <a:t>Segmentation par genre : </a:t>
            </a:r>
            <a:r>
              <a:rPr sz="1800" b="1">
                <a:solidFill>
                  <a:srgbClr val="1C2833"/>
                </a:solidFill>
                <a:latin typeface="Aptos Display"/>
              </a:rPr>
              <a:t>non pertinente</a:t>
            </a:r>
            <a:r>
              <a:rPr sz="1800">
                <a:solidFill>
                  <a:srgbClr val="1C2833"/>
                </a:solidFill>
                <a:latin typeface="Aptos Display"/>
              </a:rPr>
              <a:t> pour le ciblage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s/14_age_categori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0040" y="1700784"/>
            <a:ext cx="7223760" cy="502005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2833"/>
                </a:solidFill>
                <a:latin typeface="Calibri"/>
              </a:rPr>
              <a:t>Chi² non significatif — l’âge ne détermine pas la catégorie achetée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54113" y="2253662"/>
            <a:ext cx="3977639" cy="3444612"/>
          </a:xfrm>
          <a:solidFill>
            <a:srgbClr val="F8F9FA"/>
          </a:solidFill>
          <a:ln w="12700">
            <a:solidFill>
              <a:srgbClr val="D5DBDB"/>
            </a:solidFill>
          </a:ln>
        </p:spPr>
        <p:txBody>
          <a:bodyPr wrap="square"/>
          <a:lstStyle/>
          <a:p>
            <a:pPr marL="0" lvl="0" indent="0" algn="l">
              <a:spcBef>
                <a:spcPts val="3000"/>
              </a:spcBef>
              <a:buNone/>
            </a:pPr>
            <a:r>
              <a:rPr sz="1800" b="1">
                <a:solidFill>
                  <a:srgbClr val="1C2833"/>
                </a:solidFill>
                <a:latin typeface="Aptos Display"/>
              </a:rPr>
              <a:t>Test Chi² d’indépendance</a:t>
            </a:r>
          </a:p>
          <a:p>
            <a:pPr lvl="0" algn="l"/>
            <a:r>
              <a:rPr sz="1800">
                <a:solidFill>
                  <a:srgbClr val="1C2833"/>
                </a:solidFill>
                <a:latin typeface="Aptos Display"/>
              </a:rPr>
              <a:t>La tranche d’âge </a:t>
            </a:r>
            <a:r>
              <a:rPr sz="1800" b="1">
                <a:solidFill>
                  <a:srgbClr val="1C2833"/>
                </a:solidFill>
                <a:latin typeface="Aptos Display"/>
              </a:rPr>
              <a:t>n’influence pas</a:t>
            </a:r>
            <a:r>
              <a:rPr sz="1800">
                <a:solidFill>
                  <a:srgbClr val="1C2833"/>
                </a:solidFill>
                <a:latin typeface="Aptos Display"/>
              </a:rPr>
              <a:t> la catégorie achetée</a:t>
            </a:r>
          </a:p>
          <a:p>
            <a:pPr lvl="0" algn="l"/>
            <a:r>
              <a:rPr sz="1800">
                <a:solidFill>
                  <a:srgbClr val="1C2833"/>
                </a:solidFill>
                <a:latin typeface="Aptos Display"/>
              </a:rPr>
              <a:t>Segmentation par âge sur les catégories : </a:t>
            </a:r>
            <a:r>
              <a:rPr sz="1800" b="1">
                <a:solidFill>
                  <a:srgbClr val="1C2833"/>
                </a:solidFill>
                <a:latin typeface="Aptos Display"/>
              </a:rPr>
              <a:t>invalidée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s/11_age_ca_tota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0040" y="1816756"/>
            <a:ext cx="7223760" cy="490408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C2833"/>
                </a:solidFill>
                <a:latin typeface="Calibri"/>
              </a:rPr>
              <a:t>r ≈ 0 — l’âge ne prédit pas le CA total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35418"/>
            <a:ext cx="11274552" cy="274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4668" y="1952578"/>
            <a:ext cx="3977639" cy="3724284"/>
          </a:xfrm>
          <a:solidFill>
            <a:srgbClr val="F8F9FA"/>
          </a:solidFill>
          <a:ln w="12700">
            <a:solidFill>
              <a:srgbClr val="D5DBDB"/>
            </a:solidFill>
          </a:ln>
        </p:spPr>
        <p:txBody>
          <a:bodyPr wrap="square"/>
          <a:lstStyle/>
          <a:p>
            <a:pPr marL="0" lvl="0" indent="0" algn="l">
              <a:spcBef>
                <a:spcPts val="3000"/>
              </a:spcBef>
              <a:buNone/>
            </a:pPr>
            <a:r>
              <a:rPr sz="1800" b="1">
                <a:solidFill>
                  <a:srgbClr val="1C2833"/>
                </a:solidFill>
                <a:latin typeface="Aptos Display"/>
              </a:rPr>
              <a:t>Corrélation de Pearson</a:t>
            </a:r>
          </a:p>
          <a:p>
            <a:pPr lvl="0" algn="l"/>
            <a:r>
              <a:rPr sz="1800">
                <a:solidFill>
                  <a:srgbClr val="1C2833"/>
                </a:solidFill>
                <a:latin typeface="Aptos Display"/>
              </a:rPr>
              <a:t>Corrélation </a:t>
            </a:r>
            <a:r>
              <a:rPr sz="1800" b="1">
                <a:solidFill>
                  <a:srgbClr val="1C2833"/>
                </a:solidFill>
                <a:latin typeface="Aptos Display"/>
              </a:rPr>
              <a:t>nulle</a:t>
            </a:r>
            <a:r>
              <a:rPr sz="1800">
                <a:solidFill>
                  <a:srgbClr val="1C2833"/>
                </a:solidFill>
                <a:latin typeface="Aptos Display"/>
              </a:rPr>
              <a:t> entre âge et CA total</a:t>
            </a:r>
          </a:p>
          <a:p>
            <a:pPr lvl="0" algn="l"/>
            <a:r>
              <a:rPr sz="1800">
                <a:solidFill>
                  <a:srgbClr val="1C2833"/>
                </a:solidFill>
                <a:latin typeface="Aptos Display"/>
              </a:rPr>
              <a:t>L’âge </a:t>
            </a:r>
            <a:r>
              <a:rPr sz="1800" b="1">
                <a:solidFill>
                  <a:srgbClr val="1C2833"/>
                </a:solidFill>
                <a:latin typeface="Aptos Display"/>
              </a:rPr>
              <a:t>ne prédit pas</a:t>
            </a:r>
            <a:r>
              <a:rPr sz="1800">
                <a:solidFill>
                  <a:srgbClr val="1C2833"/>
                </a:solidFill>
                <a:latin typeface="Aptos Display"/>
              </a:rPr>
              <a:t> la valeur client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s/12_age_frequenc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0040" y="1816756"/>
            <a:ext cx="7223760" cy="490408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C2833"/>
                </a:solidFill>
                <a:latin typeface="Calibri"/>
              </a:rPr>
              <a:t>r ≈ 0 — l’âge ne prédit pas la fréquence d’achat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54113" y="1816756"/>
            <a:ext cx="3977639" cy="4090269"/>
          </a:xfrm>
          <a:solidFill>
            <a:srgbClr val="F8F9FA"/>
          </a:solidFill>
          <a:ln w="12700">
            <a:solidFill>
              <a:srgbClr val="D5DBDB"/>
            </a:solidFill>
          </a:ln>
        </p:spPr>
        <p:txBody>
          <a:bodyPr wrap="square"/>
          <a:lstStyle/>
          <a:p>
            <a:pPr marL="0" lvl="0" indent="0" algn="l">
              <a:spcBef>
                <a:spcPts val="3000"/>
              </a:spcBef>
              <a:buNone/>
            </a:pPr>
            <a:r>
              <a:rPr sz="1800" b="1">
                <a:solidFill>
                  <a:srgbClr val="1C2833"/>
                </a:solidFill>
                <a:latin typeface="Aptos Display"/>
              </a:rPr>
              <a:t>Corrélation de Pearson</a:t>
            </a:r>
          </a:p>
          <a:p>
            <a:pPr lvl="0" algn="l"/>
            <a:r>
              <a:rPr sz="1800">
                <a:solidFill>
                  <a:srgbClr val="1C2833"/>
                </a:solidFill>
                <a:latin typeface="Aptos Display"/>
              </a:rPr>
              <a:t>Aucune relation entre âge et fréquence d’achat</a:t>
            </a:r>
          </a:p>
          <a:p>
            <a:pPr lvl="0" algn="l"/>
            <a:r>
              <a:rPr sz="1800" b="1">
                <a:solidFill>
                  <a:srgbClr val="1C2833"/>
                </a:solidFill>
                <a:latin typeface="Aptos Display"/>
              </a:rPr>
              <a:t>Profil démographique</a:t>
            </a:r>
            <a:r>
              <a:rPr sz="1800">
                <a:solidFill>
                  <a:srgbClr val="1C2833"/>
                </a:solidFill>
                <a:latin typeface="Aptos Display"/>
              </a:rPr>
              <a:t> : non prédictif du comportement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s/13_age_panier_moye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0040" y="1700784"/>
            <a:ext cx="7223760" cy="502005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C2833"/>
                </a:solidFill>
                <a:latin typeface="Calibri"/>
              </a:rPr>
              <a:t>r ≈ 0 — l’âge ne prédit pas le panier moyen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64233" y="1700784"/>
            <a:ext cx="3977639" cy="4189513"/>
          </a:xfrm>
          <a:solidFill>
            <a:srgbClr val="F8F9FA"/>
          </a:solidFill>
          <a:ln w="12700">
            <a:solidFill>
              <a:srgbClr val="D5DBDB"/>
            </a:solidFill>
          </a:ln>
        </p:spPr>
        <p:txBody>
          <a:bodyPr wrap="square"/>
          <a:lstStyle/>
          <a:p>
            <a:pPr marL="0" lvl="0" indent="0" algn="l">
              <a:spcBef>
                <a:spcPts val="3000"/>
              </a:spcBef>
              <a:buNone/>
            </a:pPr>
            <a:r>
              <a:rPr sz="1800" b="1">
                <a:solidFill>
                  <a:srgbClr val="1C2833"/>
                </a:solidFill>
                <a:latin typeface="Aptos Display"/>
              </a:rPr>
              <a:t>Corrélation de Pearson</a:t>
            </a:r>
          </a:p>
          <a:p>
            <a:pPr lvl="0" algn="l"/>
            <a:r>
              <a:rPr sz="1800">
                <a:solidFill>
                  <a:srgbClr val="1C2833"/>
                </a:solidFill>
                <a:latin typeface="Aptos Display"/>
              </a:rPr>
              <a:t>Aucune relation entre âge et panier moyen</a:t>
            </a:r>
          </a:p>
          <a:p>
            <a:pPr lvl="0" algn="l"/>
            <a:r>
              <a:rPr sz="1800">
                <a:solidFill>
                  <a:srgbClr val="1C2833"/>
                </a:solidFill>
                <a:latin typeface="Aptos Display"/>
              </a:rPr>
              <a:t>La </a:t>
            </a:r>
            <a:r>
              <a:rPr sz="1800" b="1">
                <a:solidFill>
                  <a:srgbClr val="1C2833"/>
                </a:solidFill>
                <a:latin typeface="Aptos Display"/>
              </a:rPr>
              <a:t>récurrence</a:t>
            </a:r>
            <a:r>
              <a:rPr sz="1800">
                <a:solidFill>
                  <a:srgbClr val="1C2833"/>
                </a:solidFill>
                <a:latin typeface="Aptos Display"/>
              </a:rPr>
              <a:t> prime sur le profil démographique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720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C2833"/>
                </a:solidFill>
                <a:latin typeface="Calibri"/>
              </a:rPr>
              <a:t>Synthèse — Principaux enseignements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" y="1024797"/>
            <a:ext cx="11274552" cy="274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6344" y="1649487"/>
            <a:ext cx="5458968" cy="4714514"/>
          </a:xfrm>
          <a:solidFill>
            <a:srgbClr val="E8F5E9"/>
          </a:solidFill>
          <a:ln w="19050">
            <a:solidFill>
              <a:srgbClr val="27AE60"/>
            </a:solidFill>
          </a:ln>
        </p:spPr>
        <p:txBody>
          <a:bodyPr wrap="square"/>
          <a:lstStyle/>
          <a:p>
            <a:pPr marL="0" lvl="0" indent="0" algn="l">
              <a:buNone/>
            </a:pPr>
            <a:r>
              <a:rPr sz="3600" b="1" dirty="0" err="1">
                <a:solidFill>
                  <a:srgbClr val="27AE60"/>
                </a:solidFill>
                <a:latin typeface="Aptos Display"/>
              </a:rPr>
              <a:t>Activité</a:t>
            </a:r>
            <a:endParaRPr lang="fr-FR" sz="3600" b="1" dirty="0">
              <a:solidFill>
                <a:srgbClr val="27AE60"/>
              </a:solidFill>
              <a:latin typeface="Aptos Display"/>
            </a:endParaRPr>
          </a:p>
          <a:p>
            <a:pPr marL="0" lvl="0" indent="0" algn="l">
              <a:buNone/>
            </a:pPr>
            <a:endParaRPr sz="3600" b="1" dirty="0">
              <a:solidFill>
                <a:srgbClr val="27AE60"/>
              </a:solidFill>
              <a:latin typeface="Aptos Display"/>
            </a:endParaRPr>
          </a:p>
          <a:p>
            <a:pPr lvl="0" algn="l"/>
            <a:r>
              <a:rPr sz="1800" dirty="0">
                <a:solidFill>
                  <a:srgbClr val="1C2833"/>
                </a:solidFill>
                <a:latin typeface="Aptos Display"/>
              </a:rPr>
              <a:t>✅ CA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en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croissance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,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saisonnalité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identifiable</a:t>
            </a:r>
          </a:p>
          <a:p>
            <a:pPr lvl="0" algn="l"/>
            <a:r>
              <a:rPr sz="1800" dirty="0">
                <a:solidFill>
                  <a:srgbClr val="1C2833"/>
                </a:solidFill>
                <a:latin typeface="Aptos Display"/>
              </a:rPr>
              <a:t>⚠️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Dépendance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structurelle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à la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catégorie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0</a:t>
            </a:r>
          </a:p>
          <a:p>
            <a:pPr lvl="0" algn="l"/>
            <a:r>
              <a:rPr sz="1800" dirty="0">
                <a:solidFill>
                  <a:srgbClr val="1C2833"/>
                </a:solidFill>
                <a:latin typeface="Aptos Display"/>
              </a:rPr>
              <a:t>⚠️ 20 % des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produits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font 80 % du CA</a:t>
            </a:r>
          </a:p>
          <a:p>
            <a:pPr marL="0" lvl="0" indent="0" algn="l">
              <a:buNone/>
            </a:pPr>
            <a:r>
              <a:rPr sz="1800" b="1" dirty="0">
                <a:solidFill>
                  <a:srgbClr val="1C2833"/>
                </a:solidFill>
                <a:latin typeface="Aptos Display"/>
              </a:rPr>
              <a:t>Clients</a:t>
            </a:r>
          </a:p>
          <a:p>
            <a:pPr lvl="0" algn="l"/>
            <a:r>
              <a:rPr sz="1800" dirty="0">
                <a:solidFill>
                  <a:srgbClr val="1C2833"/>
                </a:solidFill>
                <a:latin typeface="Aptos Display"/>
              </a:rPr>
              <a:t>✅ Base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récurrente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solide</a:t>
            </a:r>
            <a:endParaRPr sz="1800" dirty="0">
              <a:solidFill>
                <a:srgbClr val="1C2833"/>
              </a:solidFill>
              <a:latin typeface="Aptos Display"/>
            </a:endParaRPr>
          </a:p>
          <a:p>
            <a:pPr lvl="0" algn="l"/>
            <a:r>
              <a:rPr sz="1800" dirty="0">
                <a:solidFill>
                  <a:srgbClr val="1C2833"/>
                </a:solidFill>
                <a:latin typeface="Aptos Display"/>
              </a:rPr>
              <a:t>⚠️ CA très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concentré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—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risque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BtoB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élevé</a:t>
            </a:r>
            <a:endParaRPr sz="1800" dirty="0">
              <a:solidFill>
                <a:srgbClr val="1C2833"/>
              </a:solidFill>
              <a:latin typeface="Aptos Display"/>
            </a:endParaRPr>
          </a:p>
          <a:p>
            <a:pPr lvl="0" algn="l"/>
            <a:r>
              <a:rPr sz="1800" dirty="0">
                <a:solidFill>
                  <a:srgbClr val="1C2833"/>
                </a:solidFill>
                <a:latin typeface="Aptos Display"/>
              </a:rPr>
              <a:t>⚠️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Rétention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faible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dès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le 2e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mois</a:t>
            </a:r>
            <a:endParaRPr sz="1800" dirty="0">
              <a:solidFill>
                <a:srgbClr val="1C2833"/>
              </a:solidFill>
              <a:latin typeface="Aptos Display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1072" y="1649487"/>
            <a:ext cx="5458968" cy="4714514"/>
          </a:xfrm>
          <a:solidFill>
            <a:srgbClr val="FFF3E0"/>
          </a:solidFill>
          <a:ln w="19050">
            <a:solidFill>
              <a:srgbClr val="E74C3C"/>
            </a:solidFill>
          </a:ln>
        </p:spPr>
        <p:txBody>
          <a:bodyPr wrap="square"/>
          <a:lstStyle/>
          <a:p>
            <a:pPr marL="0" lvl="0" indent="0" algn="l">
              <a:buNone/>
            </a:pPr>
            <a:r>
              <a:rPr sz="3600" b="1" dirty="0" err="1">
                <a:solidFill>
                  <a:srgbClr val="E74C3C"/>
                </a:solidFill>
                <a:latin typeface="Aptos Display"/>
              </a:rPr>
              <a:t>Corrélations</a:t>
            </a:r>
            <a:endParaRPr lang="fr-FR" sz="3600" b="1" dirty="0">
              <a:solidFill>
                <a:srgbClr val="E74C3C"/>
              </a:solidFill>
              <a:latin typeface="Aptos Display"/>
            </a:endParaRPr>
          </a:p>
          <a:p>
            <a:pPr marL="0" lvl="0" indent="0" algn="l">
              <a:buNone/>
            </a:pPr>
            <a:endParaRPr sz="3600" b="1" dirty="0">
              <a:solidFill>
                <a:srgbClr val="E74C3C"/>
              </a:solidFill>
              <a:latin typeface="Aptos Display"/>
            </a:endParaRPr>
          </a:p>
          <a:p>
            <a:pPr lvl="0" algn="l"/>
            <a:r>
              <a:rPr sz="1800" dirty="0">
                <a:solidFill>
                  <a:srgbClr val="1C2833"/>
                </a:solidFill>
                <a:latin typeface="Aptos Display"/>
              </a:rPr>
              <a:t>ℹ️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L’âge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ne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prédit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ni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le CA,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ni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la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fréquence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,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ni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le panier</a:t>
            </a:r>
          </a:p>
          <a:p>
            <a:pPr lvl="0" algn="l"/>
            <a:r>
              <a:rPr sz="1800" dirty="0">
                <a:solidFill>
                  <a:srgbClr val="1C2833"/>
                </a:solidFill>
                <a:latin typeface="Aptos Display"/>
              </a:rPr>
              <a:t>ℹ️ Genre et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âge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ont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un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effet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limité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sur les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catégories</a:t>
            </a:r>
            <a:endParaRPr sz="1800" dirty="0">
              <a:solidFill>
                <a:srgbClr val="1C2833"/>
              </a:solidFill>
              <a:latin typeface="Aptos Display"/>
            </a:endParaRPr>
          </a:p>
          <a:p>
            <a:pPr marL="0" lvl="0" indent="0" algn="l">
              <a:buNone/>
            </a:pPr>
            <a:r>
              <a:rPr sz="1800" b="1" dirty="0">
                <a:solidFill>
                  <a:srgbClr val="1C2833"/>
                </a:solidFill>
                <a:latin typeface="Aptos Display"/>
              </a:rPr>
              <a:t>Signal fort</a:t>
            </a:r>
          </a:p>
          <a:p>
            <a:pPr lvl="0" algn="l"/>
            <a:r>
              <a:rPr sz="1800" dirty="0">
                <a:solidFill>
                  <a:srgbClr val="1C2833"/>
                </a:solidFill>
                <a:latin typeface="Aptos Display"/>
              </a:rPr>
              <a:t>🎯 La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valeur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client est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déterminée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par la </a:t>
            </a:r>
            <a:r>
              <a:rPr sz="1800" b="1" dirty="0" err="1">
                <a:solidFill>
                  <a:srgbClr val="1C2833"/>
                </a:solidFill>
                <a:latin typeface="Aptos Display"/>
              </a:rPr>
              <a:t>récurrence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, pas par le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profil</a:t>
            </a:r>
            <a:r>
              <a:rPr sz="1800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1800" dirty="0" err="1">
                <a:solidFill>
                  <a:srgbClr val="1C2833"/>
                </a:solidFill>
                <a:latin typeface="Aptos Display"/>
              </a:rPr>
              <a:t>démographique</a:t>
            </a:r>
            <a:endParaRPr sz="1800" dirty="0">
              <a:solidFill>
                <a:srgbClr val="1C2833"/>
              </a:solidFill>
              <a:latin typeface="Aptos Display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7200" y="10972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 err="1">
                <a:solidFill>
                  <a:srgbClr val="1C2833"/>
                </a:solidFill>
                <a:latin typeface="Calibri"/>
              </a:rPr>
              <a:t>Recommandations</a:t>
            </a:r>
            <a:r>
              <a:rPr sz="4000" b="1" dirty="0">
                <a:solidFill>
                  <a:srgbClr val="1C2833"/>
                </a:solidFill>
                <a:latin typeface="Calibri"/>
              </a:rPr>
              <a:t> — 5 actions </a:t>
            </a:r>
            <a:r>
              <a:rPr sz="4000" b="1" dirty="0" err="1">
                <a:solidFill>
                  <a:srgbClr val="1C2833"/>
                </a:solidFill>
                <a:latin typeface="Calibri"/>
              </a:rPr>
              <a:t>prioritaires</a:t>
            </a:r>
            <a:endParaRPr sz="4000" b="1" dirty="0">
              <a:solidFill>
                <a:srgbClr val="1C2833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8192" y="1137424"/>
            <a:ext cx="10872439" cy="5255569"/>
          </a:xfrm>
          <a:solidFill>
            <a:srgbClr val="ECF0F1"/>
          </a:solidFill>
          <a:ln w="25400">
            <a:solidFill>
              <a:schemeClr val="bg1">
                <a:lumMod val="85000"/>
              </a:schemeClr>
            </a:solidFill>
          </a:ln>
        </p:spPr>
        <p:txBody>
          <a:bodyPr wrap="square">
            <a:normAutofit lnSpcReduction="10000"/>
          </a:bodyPr>
          <a:lstStyle/>
          <a:p>
            <a:pPr marL="0" lvl="0" indent="0">
              <a:buNone/>
            </a:pPr>
            <a:r>
              <a:rPr lang="fr-FR" sz="2000" dirty="0">
                <a:solidFill>
                  <a:srgbClr val="1C2833"/>
                </a:solidFill>
                <a:latin typeface="Aptos Display"/>
              </a:rPr>
              <a:t>🔴</a:t>
            </a:r>
            <a:r>
              <a:rPr lang="fr-FR" sz="2400" b="1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2400" b="1" dirty="0" err="1">
                <a:solidFill>
                  <a:srgbClr val="1C2833"/>
                </a:solidFill>
                <a:latin typeface="Aptos Display"/>
              </a:rPr>
              <a:t>Sécuriser</a:t>
            </a:r>
            <a:r>
              <a:rPr sz="2400" b="1" dirty="0">
                <a:solidFill>
                  <a:srgbClr val="1C2833"/>
                </a:solidFill>
                <a:latin typeface="Aptos Display"/>
              </a:rPr>
              <a:t> le </a:t>
            </a:r>
            <a:r>
              <a:rPr sz="2400" b="1" dirty="0" err="1">
                <a:solidFill>
                  <a:srgbClr val="1C2833"/>
                </a:solidFill>
                <a:latin typeface="Aptos Display"/>
              </a:rPr>
              <a:t>BtoB</a:t>
            </a:r>
            <a:r>
              <a:rPr sz="2400" b="1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2400" b="1" dirty="0" err="1">
                <a:solidFill>
                  <a:srgbClr val="1C2833"/>
                </a:solidFill>
                <a:latin typeface="Aptos Display"/>
              </a:rPr>
              <a:t>Suivi</a:t>
            </a:r>
            <a:r>
              <a:rPr sz="2400" b="1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2400" b="1" dirty="0" err="1">
                <a:solidFill>
                  <a:srgbClr val="1C2833"/>
                </a:solidFill>
                <a:latin typeface="Aptos Display"/>
              </a:rPr>
              <a:t>dédié</a:t>
            </a:r>
            <a:r>
              <a:rPr sz="2400" b="1" dirty="0">
                <a:solidFill>
                  <a:srgbClr val="1C2833"/>
                </a:solidFill>
                <a:latin typeface="Aptos Display"/>
              </a:rPr>
              <a:t>, </a:t>
            </a:r>
            <a:r>
              <a:rPr sz="2400" b="1" dirty="0" err="1">
                <a:solidFill>
                  <a:srgbClr val="1C2833"/>
                </a:solidFill>
                <a:latin typeface="Aptos Display"/>
              </a:rPr>
              <a:t>contrats</a:t>
            </a:r>
            <a:r>
              <a:rPr sz="2400" b="1" dirty="0">
                <a:solidFill>
                  <a:srgbClr val="1C2833"/>
                </a:solidFill>
                <a:latin typeface="Aptos Display"/>
              </a:rPr>
              <a:t> cadres </a:t>
            </a:r>
            <a:r>
              <a:rPr sz="2400" b="1" i="1" dirty="0">
                <a:solidFill>
                  <a:srgbClr val="1C2833"/>
                </a:solidFill>
                <a:latin typeface="Aptos Display"/>
              </a:rPr>
              <a:t>Lorenz + top clients</a:t>
            </a:r>
            <a:endParaRPr lang="fr-FR" sz="2400" b="1" i="1" dirty="0">
              <a:solidFill>
                <a:srgbClr val="1C2833"/>
              </a:solidFill>
              <a:latin typeface="Aptos Display"/>
            </a:endParaRPr>
          </a:p>
          <a:p>
            <a:pPr marL="0" lvl="0" indent="0" algn="l">
              <a:buNone/>
            </a:pPr>
            <a:endParaRPr sz="2400" b="1" i="1" dirty="0">
              <a:solidFill>
                <a:srgbClr val="1C2833"/>
              </a:solidFill>
              <a:latin typeface="Aptos Display"/>
            </a:endParaRPr>
          </a:p>
          <a:p>
            <a:pPr marL="0" lvl="0" indent="0" algn="l">
              <a:buNone/>
            </a:pPr>
            <a:r>
              <a:rPr sz="2000" dirty="0">
                <a:solidFill>
                  <a:srgbClr val="1C2833"/>
                </a:solidFill>
                <a:latin typeface="Aptos Display"/>
              </a:rPr>
              <a:t>🔴</a:t>
            </a:r>
            <a:r>
              <a:rPr sz="2400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2400" b="1" dirty="0">
                <a:solidFill>
                  <a:srgbClr val="1C2833"/>
                </a:solidFill>
                <a:latin typeface="Aptos Display"/>
              </a:rPr>
              <a:t>A</a:t>
            </a:r>
            <a:r>
              <a:rPr lang="fr-FR" sz="2400" b="1" dirty="0">
                <a:solidFill>
                  <a:srgbClr val="1C2833"/>
                </a:solidFill>
                <a:latin typeface="Aptos Display"/>
              </a:rPr>
              <a:t>c</a:t>
            </a:r>
            <a:r>
              <a:rPr sz="2400" b="1" dirty="0" err="1">
                <a:solidFill>
                  <a:srgbClr val="1C2833"/>
                </a:solidFill>
                <a:latin typeface="Aptos Display"/>
              </a:rPr>
              <a:t>tiver</a:t>
            </a:r>
            <a:r>
              <a:rPr sz="2400" b="1" dirty="0">
                <a:solidFill>
                  <a:srgbClr val="1C2833"/>
                </a:solidFill>
                <a:latin typeface="Aptos Display"/>
              </a:rPr>
              <a:t> les one-shot</a:t>
            </a:r>
            <a:r>
              <a:rPr sz="2400" dirty="0">
                <a:solidFill>
                  <a:srgbClr val="1C2833"/>
                </a:solidFill>
                <a:latin typeface="Aptos Display"/>
              </a:rPr>
              <a:t> </a:t>
            </a:r>
            <a:endParaRPr lang="fr-FR" sz="2400" dirty="0">
              <a:solidFill>
                <a:srgbClr val="1C2833"/>
              </a:solidFill>
              <a:latin typeface="Aptos Display"/>
            </a:endParaRPr>
          </a:p>
          <a:p>
            <a:pPr marL="0" lvl="0" indent="0" algn="l">
              <a:buNone/>
            </a:pPr>
            <a:r>
              <a:rPr lang="fr-FR" sz="2400" dirty="0">
                <a:solidFill>
                  <a:srgbClr val="1C2833"/>
                </a:solidFill>
                <a:latin typeface="Aptos Display"/>
              </a:rPr>
              <a:t>	</a:t>
            </a:r>
            <a:r>
              <a:rPr sz="2400" dirty="0">
                <a:solidFill>
                  <a:srgbClr val="1C2833"/>
                </a:solidFill>
                <a:latin typeface="Aptos Display"/>
              </a:rPr>
              <a:t>Relance </a:t>
            </a:r>
            <a:r>
              <a:rPr sz="2400" dirty="0" err="1">
                <a:solidFill>
                  <a:srgbClr val="1C2833"/>
                </a:solidFill>
                <a:latin typeface="Aptos Display"/>
              </a:rPr>
              <a:t>ciblée</a:t>
            </a:r>
            <a:r>
              <a:rPr sz="2400" dirty="0">
                <a:solidFill>
                  <a:srgbClr val="1C2833"/>
                </a:solidFill>
                <a:latin typeface="Aptos Display"/>
              </a:rPr>
              <a:t> J+30 </a:t>
            </a:r>
            <a:r>
              <a:rPr sz="2400" i="1" dirty="0" err="1">
                <a:solidFill>
                  <a:srgbClr val="1C2833"/>
                </a:solidFill>
                <a:latin typeface="Aptos Display"/>
              </a:rPr>
              <a:t>Cohortes</a:t>
            </a:r>
            <a:r>
              <a:rPr sz="2400" i="1" dirty="0">
                <a:solidFill>
                  <a:srgbClr val="1C2833"/>
                </a:solidFill>
                <a:latin typeface="Aptos Display"/>
              </a:rPr>
              <a:t> + RFM</a:t>
            </a:r>
            <a:endParaRPr lang="fr-FR" sz="2400" i="1" dirty="0">
              <a:solidFill>
                <a:srgbClr val="1C2833"/>
              </a:solidFill>
              <a:latin typeface="Aptos Display"/>
            </a:endParaRPr>
          </a:p>
          <a:p>
            <a:pPr marL="0" lvl="0" indent="0" algn="l">
              <a:buNone/>
            </a:pPr>
            <a:endParaRPr sz="2400" i="1" dirty="0">
              <a:solidFill>
                <a:srgbClr val="1C2833"/>
              </a:solidFill>
              <a:latin typeface="Aptos Display"/>
            </a:endParaRPr>
          </a:p>
          <a:p>
            <a:pPr marL="0" lvl="0" indent="0" algn="l">
              <a:buNone/>
            </a:pPr>
            <a:r>
              <a:rPr sz="2000" dirty="0">
                <a:solidFill>
                  <a:srgbClr val="1C2833"/>
                </a:solidFill>
                <a:latin typeface="Aptos Display"/>
              </a:rPr>
              <a:t>🟠</a:t>
            </a:r>
            <a:r>
              <a:rPr lang="fr-FR" sz="2400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2400" b="1" dirty="0" err="1">
                <a:solidFill>
                  <a:srgbClr val="1C2833"/>
                </a:solidFill>
                <a:latin typeface="Aptos Display"/>
              </a:rPr>
              <a:t>Concentrer</a:t>
            </a:r>
            <a:r>
              <a:rPr sz="2400" b="1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2400" b="1" dirty="0" err="1">
                <a:solidFill>
                  <a:srgbClr val="1C2833"/>
                </a:solidFill>
                <a:latin typeface="Aptos Display"/>
              </a:rPr>
              <a:t>l’assortiment</a:t>
            </a:r>
            <a:r>
              <a:rPr sz="2400" dirty="0">
                <a:solidFill>
                  <a:srgbClr val="1C2833"/>
                </a:solidFill>
                <a:latin typeface="Aptos Display"/>
              </a:rPr>
              <a:t> </a:t>
            </a:r>
            <a:endParaRPr lang="fr-FR" sz="2400" dirty="0">
              <a:solidFill>
                <a:srgbClr val="1C2833"/>
              </a:solidFill>
              <a:latin typeface="Aptos Display"/>
            </a:endParaRPr>
          </a:p>
          <a:p>
            <a:pPr marL="0" lvl="0" indent="0" algn="l">
              <a:buNone/>
            </a:pPr>
            <a:r>
              <a:rPr lang="fr-FR" sz="2400" dirty="0">
                <a:solidFill>
                  <a:srgbClr val="1C2833"/>
                </a:solidFill>
                <a:latin typeface="Aptos Display"/>
              </a:rPr>
              <a:t>	</a:t>
            </a:r>
            <a:r>
              <a:rPr sz="2400" dirty="0">
                <a:solidFill>
                  <a:srgbClr val="1C2833"/>
                </a:solidFill>
                <a:latin typeface="Aptos Display"/>
              </a:rPr>
              <a:t>Focus sur les 20 % de </a:t>
            </a:r>
            <a:r>
              <a:rPr sz="2400" dirty="0" err="1">
                <a:solidFill>
                  <a:srgbClr val="1C2833"/>
                </a:solidFill>
                <a:latin typeface="Aptos Display"/>
              </a:rPr>
              <a:t>références</a:t>
            </a:r>
            <a:r>
              <a:rPr sz="2400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2400" dirty="0" err="1">
                <a:solidFill>
                  <a:srgbClr val="1C2833"/>
                </a:solidFill>
                <a:latin typeface="Aptos Display"/>
              </a:rPr>
              <a:t>motrices</a:t>
            </a:r>
            <a:r>
              <a:rPr sz="2400" dirty="0">
                <a:solidFill>
                  <a:srgbClr val="1C2833"/>
                </a:solidFill>
                <a:latin typeface="Aptos Display"/>
              </a:rPr>
              <a:t> </a:t>
            </a:r>
            <a:r>
              <a:rPr sz="2400" i="1" dirty="0">
                <a:solidFill>
                  <a:srgbClr val="1C2833"/>
                </a:solidFill>
                <a:latin typeface="Aptos Display"/>
              </a:rPr>
              <a:t>Pareto + top </a:t>
            </a:r>
            <a:r>
              <a:rPr sz="2400" i="1" dirty="0" err="1">
                <a:solidFill>
                  <a:srgbClr val="1C2833"/>
                </a:solidFill>
                <a:latin typeface="Aptos Display"/>
              </a:rPr>
              <a:t>produits</a:t>
            </a:r>
            <a:endParaRPr lang="fr-FR" sz="2400" i="1" dirty="0">
              <a:solidFill>
                <a:srgbClr val="1C2833"/>
              </a:solidFill>
              <a:latin typeface="Aptos Display"/>
            </a:endParaRPr>
          </a:p>
          <a:p>
            <a:pPr marL="0" lvl="0" indent="0" algn="l">
              <a:buNone/>
            </a:pPr>
            <a:endParaRPr lang="fr-FR" sz="2400" i="1" dirty="0">
              <a:solidFill>
                <a:srgbClr val="1C2833"/>
              </a:solidFill>
              <a:latin typeface="Aptos Display"/>
            </a:endParaRPr>
          </a:p>
          <a:p>
            <a:pPr marL="0" lvl="0" indent="0">
              <a:buNone/>
            </a:pPr>
            <a:r>
              <a:rPr lang="fr-FR" sz="2000" dirty="0">
                <a:solidFill>
                  <a:srgbClr val="1C2833"/>
                </a:solidFill>
                <a:latin typeface="Aptos Display"/>
              </a:rPr>
              <a:t>🟠</a:t>
            </a:r>
            <a:r>
              <a:rPr lang="fr-FR" sz="2400" b="1" dirty="0">
                <a:solidFill>
                  <a:srgbClr val="1C2833"/>
                </a:solidFill>
                <a:latin typeface="Aptos Display"/>
              </a:rPr>
              <a:t> Diversifier hors catégorie 0 Réduire l’exposition à une seule catégorie </a:t>
            </a:r>
            <a:r>
              <a:rPr lang="fr-FR" sz="2400" b="1" i="1" dirty="0">
                <a:solidFill>
                  <a:srgbClr val="1C2833"/>
                </a:solidFill>
                <a:latin typeface="Aptos Display"/>
              </a:rPr>
              <a:t>CA par catégorie</a:t>
            </a:r>
          </a:p>
          <a:p>
            <a:pPr marL="0" lvl="0" indent="0">
              <a:buNone/>
            </a:pPr>
            <a:endParaRPr lang="fr-FR" sz="2400" b="1" i="1" dirty="0">
              <a:solidFill>
                <a:srgbClr val="1C2833"/>
              </a:solidFill>
              <a:latin typeface="Aptos Display"/>
            </a:endParaRPr>
          </a:p>
          <a:p>
            <a:pPr marL="0" lvl="0" indent="0">
              <a:buNone/>
            </a:pPr>
            <a:r>
              <a:rPr lang="fr-FR" sz="2000" dirty="0">
                <a:solidFill>
                  <a:srgbClr val="1C2833"/>
                </a:solidFill>
                <a:latin typeface="Aptos Display"/>
              </a:rPr>
              <a:t>🟡</a:t>
            </a:r>
            <a:r>
              <a:rPr lang="fr-FR" sz="2400" dirty="0">
                <a:solidFill>
                  <a:srgbClr val="1C2833"/>
                </a:solidFill>
                <a:latin typeface="Aptos Display"/>
              </a:rPr>
              <a:t> </a:t>
            </a:r>
            <a:r>
              <a:rPr lang="fr-FR" sz="2400" b="1" dirty="0">
                <a:solidFill>
                  <a:srgbClr val="1C2833"/>
                </a:solidFill>
                <a:latin typeface="Aptos Display"/>
              </a:rPr>
              <a:t>Cibler les pics d’activité</a:t>
            </a:r>
          </a:p>
          <a:p>
            <a:pPr marL="0" lvl="0" indent="0">
              <a:buNone/>
            </a:pPr>
            <a:r>
              <a:rPr lang="fr-FR" sz="2400" b="1" dirty="0">
                <a:solidFill>
                  <a:srgbClr val="1C2833"/>
                </a:solidFill>
                <a:latin typeface="Aptos Display"/>
              </a:rPr>
              <a:t>	</a:t>
            </a:r>
            <a:r>
              <a:rPr lang="fr-FR" sz="2400" dirty="0">
                <a:solidFill>
                  <a:srgbClr val="1C2833"/>
                </a:solidFill>
                <a:latin typeface="Aptos Display"/>
              </a:rPr>
              <a:t>Concentrer les communications sur la saisonnalité </a:t>
            </a:r>
            <a:r>
              <a:rPr lang="fr-FR" sz="2400" i="1" dirty="0">
                <a:solidFill>
                  <a:srgbClr val="1C2833"/>
                </a:solidFill>
                <a:latin typeface="Aptos Display"/>
              </a:rPr>
              <a:t>Temporalité</a:t>
            </a:r>
          </a:p>
          <a:p>
            <a:pPr marL="0" lvl="0" indent="0" algn="l">
              <a:buNone/>
            </a:pPr>
            <a:endParaRPr sz="1800" i="1" dirty="0">
              <a:solidFill>
                <a:srgbClr val="1C2833"/>
              </a:solidFill>
              <a:latin typeface="Aptos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881</Words>
  <Application>Microsoft Office PowerPoint</Application>
  <PresentationFormat>Personnalisé</PresentationFormat>
  <Paragraphs>136</Paragraphs>
  <Slides>23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8" baseType="lpstr">
      <vt:lpstr>Aptos Display</vt:lpstr>
      <vt:lpstr>Aptos Light</vt:lpstr>
      <vt:lpstr>Arial</vt:lpstr>
      <vt:lpstr>Calibri</vt:lpstr>
      <vt:lpstr>Office Theme</vt:lpstr>
      <vt:lpstr>Analyse des ventes  Librairie Lapage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Lapage — Analyse e-commerce</dc:title>
  <dc:creator>Analyse Data</dc:creator>
  <cp:keywords/>
  <cp:lastModifiedBy>Josy Elices-Diez</cp:lastModifiedBy>
  <cp:revision>1</cp:revision>
  <dcterms:created xsi:type="dcterms:W3CDTF">2026-04-04T15:52:57Z</dcterms:created>
  <dcterms:modified xsi:type="dcterms:W3CDTF">2026-04-04T16:22:51Z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Mars 2021 – Février 2023</vt:lpwstr>
  </property>
  <property fmtid="{D5CDD505-2E9C-101B-9397-08002B2CF9AE}" pid="10" name="toc-title">
    <vt:lpwstr>Table of contents</vt:lpwstr>
  </property>
</Properties>
</file>