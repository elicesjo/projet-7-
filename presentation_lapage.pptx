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4332"/>
    <a:srgbClr val="009A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92" y="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40000" y="1620000"/>
            <a:ext cx="936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ptos Display"/>
              </a:rPr>
              <a:t>Lapage — Analyse e-commerce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0" y="3456000"/>
            <a:ext cx="6480000" cy="25200"/>
          </a:xfrm>
          <a:prstGeom prst="rect">
            <a:avLst/>
          </a:prstGeom>
          <a:solidFill>
            <a:srgbClr val="A8D5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462751" y="3671999"/>
            <a:ext cx="331449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 i="0" dirty="0">
                <a:solidFill>
                  <a:srgbClr val="A8D5BA"/>
                </a:solidFill>
                <a:latin typeface="Aptos Display"/>
              </a:rPr>
              <a:t>Mars 2021 – Février 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5951" y="5580000"/>
            <a:ext cx="176811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1600" b="1" i="0" dirty="0">
                <a:solidFill>
                  <a:srgbClr val="7FBF9E"/>
                </a:solidFill>
                <a:latin typeface="Aptos Display"/>
              </a:rPr>
              <a:t>Josy ELICES-DIEZ </a:t>
            </a:r>
          </a:p>
          <a:p>
            <a:pPr algn="ctr"/>
            <a:r>
              <a:rPr sz="1600" b="1" i="0" dirty="0">
                <a:solidFill>
                  <a:srgbClr val="7FBF9E"/>
                </a:solidFill>
                <a:latin typeface="Aptos Display"/>
              </a:rPr>
              <a:t>Avril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Contexte</a:t>
            </a:r>
            <a:endParaRPr sz="3600" b="1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0000" y="1026000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414800"/>
            <a:ext cx="2607300" cy="477966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r>
              <a:rPr sz="3000" b="1" i="0" dirty="0">
                <a:solidFill>
                  <a:srgbClr val="1B4332"/>
                </a:solidFill>
                <a:latin typeface="Aptos Display"/>
              </a:rPr>
              <a:t>01</a:t>
            </a:r>
            <a:endParaRPr lang="fr-FR" sz="3000" b="1" i="0" dirty="0">
              <a:solidFill>
                <a:srgbClr val="1B4332"/>
              </a:solidFill>
              <a:latin typeface="Aptos Display"/>
            </a:endParaRPr>
          </a:p>
          <a:p>
            <a:pPr>
              <a:spcBef>
                <a:spcPts val="1200"/>
              </a:spcBef>
            </a:pPr>
            <a:r>
              <a:rPr lang="fr-FR" sz="2400" b="1" i="0" dirty="0">
                <a:solidFill>
                  <a:srgbClr val="222222"/>
                </a:solidFill>
                <a:latin typeface="Aptos Display"/>
              </a:rPr>
              <a:t>Donnée</a:t>
            </a:r>
            <a:r>
              <a:rPr lang="fr-FR" sz="2400" b="1" dirty="0">
                <a:solidFill>
                  <a:srgbClr val="222222"/>
                </a:solidFill>
                <a:latin typeface="Aptos Display"/>
              </a:rPr>
              <a:t>s</a:t>
            </a:r>
          </a:p>
          <a:p>
            <a:pPr>
              <a:spcBef>
                <a:spcPts val="1200"/>
              </a:spcBef>
            </a:pPr>
            <a:endParaRPr lang="fr-FR" sz="1800" b="1" i="0" dirty="0">
              <a:solidFill>
                <a:srgbClr val="222222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dirty="0">
                <a:solidFill>
                  <a:srgbClr val="777777"/>
                </a:solidFill>
                <a:latin typeface="Aptos Display"/>
              </a:rPr>
              <a:t>T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ransactions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
</a:t>
            </a:r>
            <a:r>
              <a:rPr lang="fr-FR" dirty="0">
                <a:solidFill>
                  <a:srgbClr val="777777"/>
                </a:solidFill>
                <a:latin typeface="Aptos Display"/>
              </a:rPr>
              <a:t>C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atalogue</a:t>
            </a: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sz="1800" b="0" i="0" dirty="0">
                <a:solidFill>
                  <a:srgbClr val="777777"/>
                </a:solidFill>
                <a:latin typeface="Aptos Display"/>
              </a:rPr>
              <a:t>P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roduits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800"/>
              </a:spcBef>
            </a:pP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800"/>
              </a:spcBef>
            </a:pP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800"/>
              </a:spcBef>
            </a:pP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800"/>
              </a:spcBef>
            </a:pP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800"/>
              </a:spcBef>
            </a:pPr>
            <a:endParaRPr sz="1800" b="0" i="0" dirty="0">
              <a:solidFill>
                <a:srgbClr val="777777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435300" y="1414800"/>
            <a:ext cx="2607300" cy="477966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r>
              <a:rPr sz="3000" b="1" i="0" dirty="0">
                <a:solidFill>
                  <a:srgbClr val="1B4332"/>
                </a:solidFill>
                <a:latin typeface="Aptos Display"/>
              </a:rPr>
              <a:t>02</a:t>
            </a:r>
          </a:p>
          <a:p>
            <a:pPr>
              <a:spcBef>
                <a:spcPts val="1200"/>
              </a:spcBef>
            </a:pPr>
            <a:r>
              <a:rPr lang="fr-FR" sz="2400" b="1" dirty="0">
                <a:solidFill>
                  <a:srgbClr val="222222"/>
                </a:solidFill>
                <a:latin typeface="Aptos Display"/>
              </a:rPr>
              <a:t>Analyses clients</a:t>
            </a:r>
          </a:p>
          <a:p>
            <a:pPr>
              <a:spcBef>
                <a:spcPts val="1200"/>
              </a:spcBef>
            </a:pPr>
            <a:endParaRPr sz="1800" b="1" i="0" dirty="0">
              <a:solidFill>
                <a:srgbClr val="222222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sz="1800" b="0" i="0" dirty="0">
                <a:solidFill>
                  <a:srgbClr val="777777"/>
                </a:solidFill>
                <a:latin typeface="Aptos Display"/>
              </a:rPr>
              <a:t>CA </a:t>
            </a: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dirty="0">
                <a:solidFill>
                  <a:srgbClr val="777777"/>
                </a:solidFill>
                <a:latin typeface="Aptos Display"/>
              </a:rPr>
              <a:t>Catégories</a:t>
            </a: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dirty="0">
                <a:solidFill>
                  <a:srgbClr val="777777"/>
                </a:solidFill>
                <a:latin typeface="Aptos Display"/>
              </a:rPr>
              <a:t>Type de client</a:t>
            </a: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dirty="0">
                <a:solidFill>
                  <a:srgbClr val="777777"/>
                </a:solidFill>
                <a:latin typeface="Aptos Display"/>
              </a:rPr>
              <a:t>C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oncentration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
</a:t>
            </a:r>
            <a:r>
              <a:rPr lang="fr-FR" sz="1800" b="0" i="0" dirty="0">
                <a:solidFill>
                  <a:srgbClr val="777777"/>
                </a:solidFill>
                <a:latin typeface="Aptos Display"/>
              </a:rPr>
              <a:t>N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ouveaux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clients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800"/>
              </a:spcBef>
            </a:pP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800"/>
              </a:spcBef>
            </a:pPr>
            <a:endParaRPr sz="1800" b="0" i="0" dirty="0">
              <a:solidFill>
                <a:srgbClr val="777777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50600" y="1414800"/>
            <a:ext cx="2607300" cy="477966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r>
              <a:rPr sz="3000" b="1" i="0" dirty="0">
                <a:solidFill>
                  <a:srgbClr val="1B4332"/>
                </a:solidFill>
                <a:latin typeface="Aptos Display"/>
              </a:rPr>
              <a:t>03</a:t>
            </a:r>
          </a:p>
          <a:p>
            <a:pPr>
              <a:spcBef>
                <a:spcPts val="1200"/>
              </a:spcBef>
            </a:pPr>
            <a:r>
              <a:rPr sz="2400" b="1" i="0" dirty="0" err="1">
                <a:solidFill>
                  <a:srgbClr val="222222"/>
                </a:solidFill>
                <a:latin typeface="Aptos Display"/>
              </a:rPr>
              <a:t>Corrélations</a:t>
            </a:r>
            <a:endParaRPr lang="fr-FR" sz="2400" b="1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1200"/>
              </a:spcBef>
            </a:pPr>
            <a:endParaRPr sz="1800" b="1" i="0" dirty="0">
              <a:solidFill>
                <a:srgbClr val="222222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Âge</a:t>
            </a: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sz="1800" b="0" i="0" dirty="0">
                <a:solidFill>
                  <a:srgbClr val="777777"/>
                </a:solidFill>
                <a:latin typeface="Aptos Display"/>
              </a:rPr>
              <a:t>G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enre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
</a:t>
            </a:r>
            <a:r>
              <a:rPr lang="fr-FR" dirty="0">
                <a:solidFill>
                  <a:srgbClr val="777777"/>
                </a:solidFill>
                <a:latin typeface="Aptos Display"/>
              </a:rPr>
              <a:t>C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atégorie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d'achat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dirty="0">
                <a:solidFill>
                  <a:srgbClr val="777777"/>
                </a:solidFill>
                <a:latin typeface="Aptos Display"/>
              </a:rPr>
              <a:t>Fréquence d’achat</a:t>
            </a: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dirty="0">
                <a:solidFill>
                  <a:srgbClr val="777777"/>
                </a:solidFill>
                <a:latin typeface="Aptos Display"/>
              </a:rPr>
              <a:t>Panier moyen</a:t>
            </a: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sz="1800" b="0" i="0" dirty="0">
              <a:solidFill>
                <a:srgbClr val="777777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65900" y="1414800"/>
            <a:ext cx="2607300" cy="477966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r>
              <a:rPr sz="3000" b="1" i="0" dirty="0">
                <a:solidFill>
                  <a:srgbClr val="1B4332"/>
                </a:solidFill>
                <a:latin typeface="Aptos Display"/>
              </a:rPr>
              <a:t>04</a:t>
            </a:r>
          </a:p>
          <a:p>
            <a:pPr>
              <a:spcBef>
                <a:spcPts val="1200"/>
              </a:spcBef>
            </a:pPr>
            <a:r>
              <a:rPr sz="2400" b="1" i="0" dirty="0" err="1">
                <a:solidFill>
                  <a:srgbClr val="222222"/>
                </a:solidFill>
                <a:latin typeface="Aptos Display"/>
              </a:rPr>
              <a:t>Synthèse</a:t>
            </a:r>
            <a:endParaRPr lang="fr-FR" sz="2400" b="1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1200"/>
              </a:spcBef>
            </a:pPr>
            <a:endParaRPr sz="1800" b="1" i="0" dirty="0">
              <a:solidFill>
                <a:srgbClr val="222222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r>
              <a:rPr lang="fr-FR" sz="1800" b="0" i="0" dirty="0">
                <a:solidFill>
                  <a:srgbClr val="777777"/>
                </a:solidFill>
                <a:latin typeface="Aptos Display"/>
              </a:rPr>
              <a:t>Chiffres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clés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
</a:t>
            </a:r>
            <a:r>
              <a:rPr lang="fr-FR" dirty="0">
                <a:solidFill>
                  <a:srgbClr val="777777"/>
                </a:solidFill>
                <a:latin typeface="Aptos Display"/>
              </a:rPr>
              <a:t>R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ecommandations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dirty="0">
              <a:solidFill>
                <a:srgbClr val="777777"/>
              </a:solidFill>
              <a:latin typeface="Aptos Display"/>
            </a:endParaRPr>
          </a:p>
          <a:p>
            <a:pPr marL="285750" indent="-285750">
              <a:spcBef>
                <a:spcPts val="800"/>
              </a:spcBef>
              <a:buFont typeface="Courier New" panose="02070309020205020404" pitchFamily="49" charset="0"/>
              <a:buChar char="o"/>
            </a:pPr>
            <a:endParaRPr lang="fr-FR" sz="1800" b="0" i="0" dirty="0">
              <a:solidFill>
                <a:srgbClr val="777777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222222"/>
                </a:solidFill>
                <a:latin typeface="Aptos Display"/>
              </a:rPr>
              <a:t>CA 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stable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sur 24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mois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—  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base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solide</a:t>
            </a:r>
            <a:endParaRPr sz="3600" b="1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0000" y="1101160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3</a:t>
            </a:r>
          </a:p>
        </p:txBody>
      </p:sp>
      <p:pic>
        <p:nvPicPr>
          <p:cNvPr id="5" name="Picture 4" descr="01_ca_mensu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07" y="1436179"/>
            <a:ext cx="6804313" cy="49718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29881" y="1422789"/>
            <a:ext cx="3883680" cy="22896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1E8A44"/>
                </a:solidFill>
                <a:latin typeface="Aptos Display"/>
              </a:rPr>
              <a:t>11,85 M€</a:t>
            </a:r>
          </a:p>
          <a:p>
            <a:pPr>
              <a:spcBef>
                <a:spcPts val="0"/>
              </a:spcBef>
            </a:pPr>
            <a:r>
              <a:rPr sz="1200" b="0" i="0" dirty="0">
                <a:solidFill>
                  <a:srgbClr val="777777"/>
                </a:solidFill>
                <a:latin typeface="Aptos Display"/>
              </a:rPr>
              <a:t>CA total · Mar 2021 – </a:t>
            </a:r>
            <a:r>
              <a:rPr sz="1200" b="0" i="0" dirty="0" err="1">
                <a:solidFill>
                  <a:srgbClr val="777777"/>
                </a:solidFill>
                <a:latin typeface="Aptos Display"/>
              </a:rPr>
              <a:t>Fév</a:t>
            </a:r>
            <a:r>
              <a:rPr sz="1200" b="0" i="0" dirty="0">
                <a:solidFill>
                  <a:srgbClr val="777777"/>
                </a:solidFill>
                <a:latin typeface="Aptos Display"/>
              </a:rPr>
              <a:t> 2023</a:t>
            </a:r>
          </a:p>
          <a:p>
            <a:pPr>
              <a:spcBef>
                <a:spcPts val="400"/>
              </a:spcBef>
            </a:pP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Mois</a:t>
            </a:r>
            <a:r>
              <a:rPr sz="1400" b="0" i="0" dirty="0">
                <a:solidFill>
                  <a:srgbClr val="222222"/>
                </a:solidFill>
                <a:latin typeface="Aptos Display"/>
              </a:rPr>
              <a:t> record : </a:t>
            </a: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Fév</a:t>
            </a:r>
            <a:r>
              <a:rPr sz="1400" b="0" i="0" dirty="0">
                <a:solidFill>
                  <a:srgbClr val="222222"/>
                </a:solidFill>
                <a:latin typeface="Aptos Display"/>
              </a:rPr>
              <a:t>. 2022</a:t>
            </a:r>
          </a:p>
          <a:p>
            <a:pPr>
              <a:spcBef>
                <a:spcPts val="400"/>
              </a:spcBef>
            </a:pP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Mois</a:t>
            </a:r>
            <a:r>
              <a:rPr sz="1400" b="0" i="0" dirty="0">
                <a:solidFill>
                  <a:srgbClr val="222222"/>
                </a:solidFill>
                <a:latin typeface="Aptos Display"/>
              </a:rPr>
              <a:t> creux : Oct. 2021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29881" y="3784389"/>
            <a:ext cx="3883680" cy="22896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>
                <a:solidFill>
                  <a:srgbClr val="222222"/>
                </a:solidFill>
                <a:latin typeface="Aptos Display"/>
              </a:rPr>
              <a:t>493 k€</a:t>
            </a:r>
          </a:p>
          <a:p>
            <a:pPr>
              <a:spcBef>
                <a:spcPts val="0"/>
              </a:spcBef>
            </a:pPr>
            <a:r>
              <a:rPr sz="1200" b="0" i="0">
                <a:solidFill>
                  <a:srgbClr val="777777"/>
                </a:solidFill>
                <a:latin typeface="Aptos Display"/>
              </a:rPr>
              <a:t>CA moyen / mois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222222"/>
                </a:solidFill>
                <a:latin typeface="Aptos Display"/>
              </a:rPr>
              <a:t>Pas de tendance baissière sur 2 ans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222222"/>
                </a:solidFill>
                <a:latin typeface="Aptos Display"/>
              </a:rPr>
              <a:t>→ L'activité est structurellement saine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222222"/>
                </a:solidFill>
                <a:latin typeface="Aptos Display"/>
              </a:rPr>
              <a:t>Cat. 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0 et 1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dominent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à 76% — Cat. 2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reste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minoritaire</a:t>
            </a:r>
            <a:endParaRPr sz="3600" b="1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0000" y="1034252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4</a:t>
            </a:r>
          </a:p>
        </p:txBody>
      </p:sp>
      <p:pic>
        <p:nvPicPr>
          <p:cNvPr id="5" name="Picture 4" descr="07_repartition_categorie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61" y="1516565"/>
            <a:ext cx="6193422" cy="49814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85637" y="1516565"/>
            <a:ext cx="3883680" cy="1854899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1E8A44"/>
                </a:solidFill>
                <a:latin typeface="Aptos Display"/>
              </a:rPr>
              <a:t>39 %</a:t>
            </a:r>
          </a:p>
          <a:p>
            <a:pPr>
              <a:spcBef>
                <a:spcPts val="0"/>
              </a:spcBef>
            </a:pPr>
            <a:r>
              <a:rPr sz="1200" b="0" i="0" dirty="0" err="1">
                <a:solidFill>
                  <a:srgbClr val="777777"/>
                </a:solidFill>
                <a:latin typeface="Aptos Display"/>
              </a:rPr>
              <a:t>Catégorie</a:t>
            </a:r>
            <a:r>
              <a:rPr sz="1200" b="0" i="0" dirty="0">
                <a:solidFill>
                  <a:srgbClr val="777777"/>
                </a:solidFill>
                <a:latin typeface="Aptos Display"/>
              </a:rPr>
              <a:t> 1 — leader</a:t>
            </a:r>
          </a:p>
          <a:p>
            <a:pPr>
              <a:spcBef>
                <a:spcPts val="400"/>
              </a:spcBef>
            </a:pP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Catégorie</a:t>
            </a:r>
            <a:r>
              <a:rPr sz="1400" b="0" i="0" dirty="0">
                <a:solidFill>
                  <a:srgbClr val="222222"/>
                </a:solidFill>
                <a:latin typeface="Aptos Display"/>
              </a:rPr>
              <a:t> 0 : 37 %</a:t>
            </a:r>
            <a:endParaRPr lang="fr-FR" sz="1400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lang="fr-FR" sz="140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sz="1400"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85637" y="3878165"/>
            <a:ext cx="3883680" cy="1588159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C0392B"/>
                </a:solidFill>
                <a:latin typeface="Aptos Display"/>
              </a:rPr>
              <a:t>23 %</a:t>
            </a:r>
          </a:p>
          <a:p>
            <a:pPr>
              <a:spcBef>
                <a:spcPts val="0"/>
              </a:spcBef>
            </a:pPr>
            <a:r>
              <a:rPr sz="1200" b="0" i="0" dirty="0" err="1">
                <a:solidFill>
                  <a:srgbClr val="777777"/>
                </a:solidFill>
                <a:latin typeface="Aptos Display"/>
              </a:rPr>
              <a:t>Catégorie</a:t>
            </a:r>
            <a:r>
              <a:rPr sz="1200" b="0" i="0" dirty="0">
                <a:solidFill>
                  <a:srgbClr val="777777"/>
                </a:solidFill>
                <a:latin typeface="Aptos Display"/>
              </a:rPr>
              <a:t> 2 — </a:t>
            </a:r>
            <a:r>
              <a:rPr sz="1200" b="0" i="0" dirty="0" err="1">
                <a:solidFill>
                  <a:srgbClr val="777777"/>
                </a:solidFill>
                <a:latin typeface="Aptos Display"/>
              </a:rPr>
              <a:t>minoritaire</a:t>
            </a:r>
            <a:endParaRPr sz="12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sz="1400"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Offre</a:t>
            </a:r>
            <a:r>
              <a:rPr sz="1400" b="0" i="0" dirty="0">
                <a:solidFill>
                  <a:srgbClr val="222222"/>
                </a:solidFill>
                <a:latin typeface="Aptos Display"/>
              </a:rPr>
              <a:t>, prix </a:t>
            </a: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ou</a:t>
            </a:r>
            <a:r>
              <a:rPr sz="1400"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visibilité</a:t>
            </a:r>
            <a:r>
              <a:rPr sz="1400" b="0" i="0" dirty="0">
                <a:solidFill>
                  <a:srgbClr val="222222"/>
                </a:solidFill>
                <a:latin typeface="Aptos Display"/>
              </a:rPr>
              <a:t> à </a:t>
            </a: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investiguer</a:t>
            </a:r>
            <a:endParaRPr sz="1400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sz="1400"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Potentiel</a:t>
            </a:r>
            <a:r>
              <a:rPr sz="1400" b="0" i="0" dirty="0">
                <a:solidFill>
                  <a:srgbClr val="222222"/>
                </a:solidFill>
                <a:latin typeface="Aptos Display"/>
              </a:rPr>
              <a:t> non </a:t>
            </a:r>
            <a:r>
              <a:rPr sz="1400" b="0" i="0" dirty="0" err="1">
                <a:solidFill>
                  <a:srgbClr val="222222"/>
                </a:solidFill>
                <a:latin typeface="Aptos Display"/>
              </a:rPr>
              <a:t>exploité</a:t>
            </a:r>
            <a:r>
              <a:rPr lang="fr-FR" sz="1400" b="0" i="0" dirty="0">
                <a:solidFill>
                  <a:srgbClr val="222222"/>
                </a:solidFill>
                <a:latin typeface="Aptos Display"/>
              </a:rPr>
              <a:t> ou catégorie de niche ? </a:t>
            </a:r>
            <a:endParaRPr sz="1400"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222222"/>
                </a:solidFill>
                <a:latin typeface="Aptos Display"/>
              </a:rPr>
              <a:t>Les 3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catégories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évoluent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en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parallèle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– chute en Octobre 2021 </a:t>
            </a:r>
            <a:endParaRPr lang="fr-FR" dirty="0">
              <a:solidFill>
                <a:srgbClr val="222222"/>
              </a:solidFill>
              <a:latin typeface="Aptos Display"/>
            </a:endParaRPr>
          </a:p>
          <a:p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5</a:t>
            </a:r>
          </a:p>
        </p:txBody>
      </p:sp>
      <p:pic>
        <p:nvPicPr>
          <p:cNvPr id="5" name="Picture 4" descr="02_ca_par_catego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846799"/>
            <a:ext cx="6365520" cy="4651201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6080D5B4-E2D6-D1E0-D26A-82995F5189DE}"/>
              </a:ext>
            </a:extLst>
          </p:cNvPr>
          <p:cNvSpPr txBox="1"/>
          <p:nvPr/>
        </p:nvSpPr>
        <p:spPr>
          <a:xfrm>
            <a:off x="7546320" y="4312065"/>
            <a:ext cx="3883680" cy="18446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lang="fr-FR" sz="4000" b="1" i="0" dirty="0">
                <a:solidFill>
                  <a:srgbClr val="1E8A44"/>
                </a:solidFill>
                <a:latin typeface="Aptos Display"/>
              </a:rPr>
              <a:t>+30% </a:t>
            </a:r>
            <a:endParaRPr sz="4000" b="1" i="0" dirty="0">
              <a:solidFill>
                <a:srgbClr val="1E8A44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r>
              <a:rPr lang="fr-FR" sz="1200" dirty="0">
                <a:solidFill>
                  <a:srgbClr val="777777"/>
                </a:solidFill>
                <a:latin typeface="Aptos Display"/>
              </a:rPr>
              <a:t>CA Septembre / Novembre 2021</a:t>
            </a:r>
          </a:p>
          <a:p>
            <a:pPr>
              <a:spcBef>
                <a:spcPts val="0"/>
              </a:spcBef>
            </a:pPr>
            <a:endParaRPr lang="fr-FR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lang="fr-FR" dirty="0">
                <a:solidFill>
                  <a:srgbClr val="222222"/>
                </a:solidFill>
                <a:latin typeface="Aptos Display"/>
              </a:rPr>
              <a:t>→ Dû à la chute brutale d’Octobre ? </a:t>
            </a:r>
          </a:p>
          <a:p>
            <a:pPr>
              <a:spcBef>
                <a:spcPts val="0"/>
              </a:spcBef>
            </a:pPr>
            <a:endParaRPr lang="fr-FR" sz="1200" dirty="0">
              <a:solidFill>
                <a:srgbClr val="777777"/>
              </a:solidFill>
              <a:latin typeface="Aptos Display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06A779D3-B93A-5C58-0C47-7DA4F7B41358}"/>
              </a:ext>
            </a:extLst>
          </p:cNvPr>
          <p:cNvSpPr txBox="1"/>
          <p:nvPr/>
        </p:nvSpPr>
        <p:spPr>
          <a:xfrm>
            <a:off x="7546320" y="1846799"/>
            <a:ext cx="3883680" cy="22139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lang="fr-FR" sz="4000" b="1" dirty="0">
                <a:solidFill>
                  <a:srgbClr val="FF0000"/>
                </a:solidFill>
                <a:latin typeface="Aptos Display"/>
              </a:rPr>
              <a:t>-84%</a:t>
            </a:r>
            <a:endParaRPr sz="4000" b="1" i="0" dirty="0">
              <a:solidFill>
                <a:srgbClr val="FF0000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r>
              <a:rPr lang="fr-FR" sz="1200" b="0" i="0" dirty="0">
                <a:solidFill>
                  <a:srgbClr val="777777"/>
                </a:solidFill>
                <a:latin typeface="Aptos Display"/>
              </a:rPr>
              <a:t>CA Octobre 2021 </a:t>
            </a:r>
          </a:p>
          <a:p>
            <a:pPr>
              <a:spcBef>
                <a:spcPts val="0"/>
              </a:spcBef>
            </a:pPr>
            <a:endParaRPr lang="fr-FR" sz="12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lang="fr-FR" dirty="0">
                <a:solidFill>
                  <a:srgbClr val="222222"/>
                </a:solidFill>
                <a:latin typeface="Aptos Display"/>
              </a:rPr>
              <a:t>→ Saisonnalité, promotions ou problème interne ? </a:t>
            </a:r>
          </a:p>
          <a:p>
            <a:endParaRPr lang="fr-FR" sz="120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endParaRPr sz="1200" b="0" i="0" dirty="0">
              <a:solidFill>
                <a:srgbClr val="777777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Cat.0 entrée de gamme - 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Cat. 2 a 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un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positionnement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premium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6</a:t>
            </a:r>
          </a:p>
        </p:txBody>
      </p:sp>
      <p:pic>
        <p:nvPicPr>
          <p:cNvPr id="5" name="Picture 4" descr="07b_prix_unitaire_cat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846799"/>
            <a:ext cx="6365520" cy="46512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3696" y="2714105"/>
            <a:ext cx="3883680" cy="2685896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lang="fr-FR" sz="4000" b="1" i="0" dirty="0">
                <a:solidFill>
                  <a:srgbClr val="1E8A44"/>
                </a:solidFill>
                <a:latin typeface="Aptos Display"/>
              </a:rPr>
              <a:t>7,6x</a:t>
            </a:r>
          </a:p>
          <a:p>
            <a:r>
              <a:rPr lang="fr-FR" i="0" dirty="0">
                <a:solidFill>
                  <a:schemeClr val="bg1">
                    <a:lumMod val="50000"/>
                  </a:schemeClr>
                </a:solidFill>
                <a:latin typeface="Aptos Display"/>
              </a:rPr>
              <a:t>Plus élevé que catégorie 0</a:t>
            </a:r>
          </a:p>
          <a:p>
            <a:endParaRPr i="0" dirty="0">
              <a:solidFill>
                <a:schemeClr val="bg1">
                  <a:lumMod val="50000"/>
                </a:schemeClr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Explique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pourquoi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Cat. 2 fait 23 % du CA avec peu de volume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lang="fr-FR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222222"/>
                </a:solidFill>
                <a:latin typeface="Aptos Display"/>
              </a:rPr>
              <a:t>Base clients stable sur 24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mois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 – même chute d’octobre 2021 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389322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7</a:t>
            </a:r>
          </a:p>
        </p:txBody>
      </p:sp>
      <p:pic>
        <p:nvPicPr>
          <p:cNvPr id="5" name="Picture 4" descr="03_clients_par_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656878"/>
            <a:ext cx="6365520" cy="50031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6320" y="1511999"/>
            <a:ext cx="3883680" cy="2357601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222222"/>
                </a:solidFill>
                <a:latin typeface="Aptos Display"/>
              </a:rPr>
              <a:t>5 714</a:t>
            </a:r>
          </a:p>
          <a:p>
            <a:pPr>
              <a:spcBef>
                <a:spcPts val="0"/>
              </a:spcBef>
            </a:pPr>
            <a:r>
              <a:rPr b="0" i="0" dirty="0">
                <a:solidFill>
                  <a:srgbClr val="777777"/>
                </a:solidFill>
                <a:latin typeface="Aptos Display"/>
              </a:rPr>
              <a:t>clients </a:t>
            </a:r>
            <a:r>
              <a:rPr b="0" i="0" dirty="0" err="1">
                <a:solidFill>
                  <a:srgbClr val="777777"/>
                </a:solidFill>
                <a:latin typeface="Aptos Display"/>
              </a:rPr>
              <a:t>actifs</a:t>
            </a:r>
            <a:r>
              <a:rPr b="0" i="0" dirty="0">
                <a:solidFill>
                  <a:srgbClr val="777777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777777"/>
                </a:solidFill>
                <a:latin typeface="Aptos Display"/>
              </a:rPr>
              <a:t>en</a:t>
            </a:r>
            <a:r>
              <a:rPr b="0" i="0" dirty="0">
                <a:solidFill>
                  <a:srgbClr val="777777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777777"/>
                </a:solidFill>
                <a:latin typeface="Aptos Display"/>
              </a:rPr>
              <a:t>moyenne</a:t>
            </a:r>
            <a:r>
              <a:rPr b="0" i="0" dirty="0">
                <a:solidFill>
                  <a:srgbClr val="777777"/>
                </a:solidFill>
                <a:latin typeface="Aptos Display"/>
              </a:rPr>
              <a:t> / </a:t>
            </a:r>
            <a:r>
              <a:rPr b="0" i="0" dirty="0" err="1">
                <a:solidFill>
                  <a:srgbClr val="777777"/>
                </a:solidFill>
                <a:latin typeface="Aptos Display"/>
              </a:rPr>
              <a:t>mois</a:t>
            </a:r>
            <a:endParaRPr lang="fr-FR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endParaRPr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lang="fr-FR" b="0" i="0" dirty="0">
                <a:solidFill>
                  <a:srgbClr val="222222"/>
                </a:solidFill>
                <a:latin typeface="Aptos Display"/>
              </a:rPr>
              <a:t>Hypothèse d’un bug du site, rupture de stock, problème interne.</a:t>
            </a: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546320" y="4172399"/>
            <a:ext cx="3883680" cy="174204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lang="fr-FR" dirty="0">
                <a:solidFill>
                  <a:srgbClr val="222222"/>
                </a:solidFill>
                <a:latin typeface="Aptos Display"/>
              </a:rPr>
              <a:t>E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njeu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fidélisation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Travailler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la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valeur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par client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plutôt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que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le volume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Cat. 0 et Cat. 1 mobilisent le plus de clients — Cat. 2 reste confidentielle mais premium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8</a:t>
            </a:r>
          </a:p>
        </p:txBody>
      </p:sp>
      <p:pic>
        <p:nvPicPr>
          <p:cNvPr id="5" name="Picture 4" descr="07c_clients_categ_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736493"/>
            <a:ext cx="6365520" cy="47615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6320" y="1736492"/>
            <a:ext cx="3883680" cy="247045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lang="fr-FR" sz="4000" b="1" dirty="0">
                <a:solidFill>
                  <a:srgbClr val="FF0000"/>
                </a:solidFill>
                <a:latin typeface="Aptos Display"/>
              </a:rPr>
              <a:t>-75% </a:t>
            </a:r>
          </a:p>
          <a:p>
            <a:r>
              <a:rPr lang="fr-FR" sz="1400" dirty="0">
                <a:solidFill>
                  <a:schemeClr val="bg1">
                    <a:lumMod val="50000"/>
                  </a:schemeClr>
                </a:solidFill>
                <a:latin typeface="Aptos Display"/>
              </a:rPr>
              <a:t>Octobre 2021 </a:t>
            </a:r>
            <a:endParaRPr lang="fr-FR" dirty="0">
              <a:solidFill>
                <a:srgbClr val="222222"/>
              </a:solidFill>
              <a:latin typeface="Aptos Display"/>
            </a:endParaRPr>
          </a:p>
          <a:p>
            <a:r>
              <a:rPr lang="fr-FR" dirty="0">
                <a:solidFill>
                  <a:srgbClr val="222222"/>
                </a:solidFill>
                <a:latin typeface="Aptos Display"/>
              </a:rPr>
              <a:t>Seulement Cat. 1, rupture stock ?</a:t>
            </a:r>
          </a:p>
          <a:p>
            <a:endParaRPr lang="fr-FR" dirty="0">
              <a:solidFill>
                <a:srgbClr val="222222"/>
              </a:solidFill>
              <a:latin typeface="Aptos Display"/>
            </a:endParaRPr>
          </a:p>
          <a:p>
            <a:r>
              <a:rPr lang="fr-FR" sz="4000" b="1" dirty="0">
                <a:solidFill>
                  <a:srgbClr val="009A46"/>
                </a:solidFill>
                <a:latin typeface="Aptos Display"/>
              </a:rPr>
              <a:t>+18% </a:t>
            </a:r>
          </a:p>
          <a:p>
            <a:r>
              <a:rPr lang="fr-FR" sz="1400" dirty="0">
                <a:solidFill>
                  <a:schemeClr val="bg1">
                    <a:lumMod val="50000"/>
                  </a:schemeClr>
                </a:solidFill>
                <a:latin typeface="Aptos Display"/>
              </a:rPr>
              <a:t>Novembre 2021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6320" y="4364963"/>
            <a:ext cx="3883680" cy="179334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0" i="0" dirty="0">
                <a:solidFill>
                  <a:srgbClr val="222222"/>
                </a:solidFill>
                <a:latin typeface="Aptos Display"/>
              </a:rPr>
              <a:t>→ Cat. 2 </a:t>
            </a:r>
            <a:r>
              <a:rPr lang="fr-FR" dirty="0">
                <a:solidFill>
                  <a:srgbClr val="222222"/>
                </a:solidFill>
                <a:latin typeface="Aptos Display"/>
              </a:rPr>
              <a:t>peu de clients mais panier unitaire élevé  :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produit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de niche 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r>
              <a:rPr b="1" i="0" dirty="0">
                <a:solidFill>
                  <a:srgbClr val="222222"/>
                </a:solidFill>
                <a:latin typeface="Aptos Display"/>
              </a:rPr>
              <a:t> </a:t>
            </a:r>
            <a:endParaRPr lang="fr-FR" b="1" dirty="0">
              <a:solidFill>
                <a:srgbClr val="222222"/>
              </a:solidFill>
              <a:latin typeface="Aptos Display"/>
            </a:endParaRPr>
          </a:p>
          <a:p>
            <a:r>
              <a:rPr lang="fr-FR" b="1" i="1" dirty="0">
                <a:solidFill>
                  <a:srgbClr val="222222"/>
                </a:solidFill>
                <a:latin typeface="Aptos Display"/>
              </a:rPr>
              <a:t>C</a:t>
            </a:r>
            <a:r>
              <a:rPr b="1" i="1" dirty="0" err="1">
                <a:solidFill>
                  <a:srgbClr val="222222"/>
                </a:solidFill>
                <a:latin typeface="Aptos Display"/>
              </a:rPr>
              <a:t>ibler</a:t>
            </a:r>
            <a:r>
              <a:rPr b="1" i="1" dirty="0">
                <a:solidFill>
                  <a:srgbClr val="222222"/>
                </a:solidFill>
                <a:latin typeface="Aptos Display"/>
              </a:rPr>
              <a:t> les </a:t>
            </a:r>
            <a:r>
              <a:rPr b="1" i="1" dirty="0" err="1">
                <a:solidFill>
                  <a:srgbClr val="222222"/>
                </a:solidFill>
                <a:latin typeface="Aptos Display"/>
              </a:rPr>
              <a:t>profils</a:t>
            </a:r>
            <a:r>
              <a:rPr b="1" i="1" dirty="0">
                <a:solidFill>
                  <a:srgbClr val="222222"/>
                </a:solidFill>
                <a:latin typeface="Aptos Display"/>
              </a:rPr>
              <a:t> à fort </a:t>
            </a:r>
            <a:r>
              <a:rPr b="1" i="1" dirty="0" err="1">
                <a:solidFill>
                  <a:srgbClr val="222222"/>
                </a:solidFill>
                <a:latin typeface="Aptos Display"/>
              </a:rPr>
              <a:t>potentiel</a:t>
            </a:r>
            <a:endParaRPr lang="fr-FR" b="1" i="1" dirty="0">
              <a:solidFill>
                <a:srgbClr val="222222"/>
              </a:solidFill>
              <a:latin typeface="Aptos Display"/>
            </a:endParaRPr>
          </a:p>
          <a:p>
            <a:endParaRPr lang="fr-FR" sz="1400" b="0" i="0" dirty="0">
              <a:solidFill>
                <a:srgbClr val="222222"/>
              </a:solidFill>
              <a:latin typeface="Aptos Display"/>
            </a:endParaRPr>
          </a:p>
          <a:p>
            <a:endParaRPr lang="fr-FR" sz="1400"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222222"/>
                </a:solidFill>
                <a:latin typeface="Aptos Display"/>
              </a:rPr>
              <a:t>Transactions et CA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évoluent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ensemble 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= nombre d’achats augmentent le CA</a:t>
            </a:r>
            <a:endParaRPr sz="3600" b="1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9</a:t>
            </a:r>
          </a:p>
        </p:txBody>
      </p:sp>
      <p:pic>
        <p:nvPicPr>
          <p:cNvPr id="5" name="Picture 4" descr="04_transactions_par_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790693"/>
            <a:ext cx="6365520" cy="4707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9520" y="1937933"/>
            <a:ext cx="3883680" cy="194723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1E8A44"/>
                </a:solidFill>
                <a:latin typeface="Aptos Display"/>
              </a:rPr>
              <a:t>679 k</a:t>
            </a:r>
            <a:r>
              <a:rPr lang="fr-FR" sz="4000" b="1" i="0" dirty="0">
                <a:solidFill>
                  <a:srgbClr val="1E8A44"/>
                </a:solidFill>
                <a:latin typeface="Aptos Display"/>
              </a:rPr>
              <a:t>€</a:t>
            </a:r>
            <a:endParaRPr sz="4000" b="1" i="0" dirty="0">
              <a:solidFill>
                <a:srgbClr val="1E8A44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r>
              <a:rPr lang="fr-FR" sz="1400" dirty="0">
                <a:solidFill>
                  <a:srgbClr val="777777"/>
                </a:solidFill>
                <a:latin typeface="Aptos Display"/>
              </a:rPr>
              <a:t>T</a:t>
            </a:r>
            <a:r>
              <a:rPr sz="1400" b="0" i="0" dirty="0" err="1">
                <a:solidFill>
                  <a:srgbClr val="777777"/>
                </a:solidFill>
                <a:latin typeface="Aptos Display"/>
              </a:rPr>
              <a:t>ransactions</a:t>
            </a:r>
            <a:r>
              <a:rPr sz="1400" b="0" i="0" dirty="0">
                <a:solidFill>
                  <a:srgbClr val="777777"/>
                </a:solidFill>
                <a:latin typeface="Aptos Display"/>
              </a:rPr>
              <a:t> sur 2 </a:t>
            </a:r>
            <a:r>
              <a:rPr sz="1400" b="0" i="0" dirty="0" err="1">
                <a:solidFill>
                  <a:srgbClr val="777777"/>
                </a:solidFill>
                <a:latin typeface="Aptos Display"/>
              </a:rPr>
              <a:t>ans</a:t>
            </a:r>
            <a:endParaRPr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Moyenne : 28 296 /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mois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lang="fr-FR" sz="140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lang="fr-FR" sz="1400"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29520" y="4208399"/>
            <a:ext cx="3883680" cy="18446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pPr>
              <a:spcBef>
                <a:spcPts val="400"/>
              </a:spcBef>
            </a:pPr>
            <a:r>
              <a:rPr b="0" i="0" dirty="0" err="1">
                <a:solidFill>
                  <a:srgbClr val="222222"/>
                </a:solidFill>
                <a:latin typeface="Aptos Display"/>
              </a:rPr>
              <a:t>Aucun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effet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prix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détectable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Pour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croître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: 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1" i="1" dirty="0">
                <a:solidFill>
                  <a:srgbClr val="222222"/>
                </a:solidFill>
                <a:latin typeface="Aptos Display"/>
              </a:rPr>
              <a:t>augmenter la </a:t>
            </a:r>
            <a:r>
              <a:rPr b="1" i="1" dirty="0" err="1">
                <a:solidFill>
                  <a:srgbClr val="222222"/>
                </a:solidFill>
                <a:latin typeface="Aptos Display"/>
              </a:rPr>
              <a:t>fréquence</a:t>
            </a:r>
            <a:r>
              <a:rPr b="1" i="1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1" i="1" dirty="0" err="1">
                <a:solidFill>
                  <a:srgbClr val="222222"/>
                </a:solidFill>
                <a:latin typeface="Aptos Display"/>
              </a:rPr>
              <a:t>d'achat</a:t>
            </a:r>
            <a:endParaRPr lang="fr-FR" b="1" i="1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1" i="1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222222"/>
                </a:solidFill>
                <a:latin typeface="Aptos Display"/>
              </a:rPr>
              <a:t>Cat. 0 domine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en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volume — Cat. 2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génère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lang="fr-FR" sz="3600" b="1" dirty="0">
                <a:solidFill>
                  <a:srgbClr val="222222"/>
                </a:solidFill>
                <a:latin typeface="Aptos Display"/>
              </a:rPr>
              <a:t>plus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de CA</a:t>
            </a:r>
            <a:r>
              <a:rPr lang="fr-FR" sz="3600" b="1" dirty="0">
                <a:solidFill>
                  <a:srgbClr val="222222"/>
                </a:solidFill>
                <a:latin typeface="Aptos Display"/>
              </a:rPr>
              <a:t> – Cat. 1 marge le plus </a:t>
            </a:r>
            <a:endParaRPr lang="fr-FR" sz="3600" b="1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10</a:t>
            </a:r>
          </a:p>
        </p:txBody>
      </p:sp>
      <p:pic>
        <p:nvPicPr>
          <p:cNvPr id="5" name="Picture 4" descr="05c_qte_vendus_cat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80" y="1846799"/>
            <a:ext cx="6365520" cy="46512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6320" y="2799377"/>
            <a:ext cx="3883680" cy="229604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r>
              <a:rPr b="1" i="0" dirty="0">
                <a:solidFill>
                  <a:srgbClr val="222222"/>
                </a:solidFill>
                <a:latin typeface="Aptos Display"/>
              </a:rPr>
              <a:t>Cat. 0 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= volume fort, prix bas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r>
              <a:rPr lang="fr-FR" b="1" dirty="0">
                <a:solidFill>
                  <a:srgbClr val="222222"/>
                </a:solidFill>
                <a:latin typeface="Aptos Display"/>
              </a:rPr>
              <a:t>Cat. 1 </a:t>
            </a:r>
            <a:r>
              <a:rPr lang="fr-FR" dirty="0">
                <a:solidFill>
                  <a:srgbClr val="222222"/>
                </a:solidFill>
                <a:latin typeface="Aptos Display"/>
              </a:rPr>
              <a:t>= milieu de gamme, top CA</a:t>
            </a:r>
          </a:p>
          <a:p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222222"/>
                </a:solidFill>
                <a:latin typeface="Aptos Display"/>
              </a:rPr>
              <a:t>Cat. 2 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= volume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faible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, prix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élevé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lang="fr-FR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2EEC8A6-4CB7-29AD-ADB5-8E86CF38E30A}"/>
              </a:ext>
            </a:extLst>
          </p:cNvPr>
          <p:cNvSpPr txBox="1"/>
          <p:nvPr/>
        </p:nvSpPr>
        <p:spPr>
          <a:xfrm>
            <a:off x="2776653" y="2483307"/>
            <a:ext cx="10259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009A46"/>
                </a:solidFill>
              </a:rPr>
              <a:t>+ 75%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DFE3CB0-DD57-1603-0226-D83B7079BA4D}"/>
              </a:ext>
            </a:extLst>
          </p:cNvPr>
          <p:cNvSpPr txBox="1"/>
          <p:nvPr/>
        </p:nvSpPr>
        <p:spPr>
          <a:xfrm>
            <a:off x="2951188" y="5199946"/>
            <a:ext cx="10259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FF0000"/>
                </a:solidFill>
              </a:rPr>
              <a:t>- 78%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Top 10 = CA et volume alignés — les flops vendent peu et génèrent un CA négligeable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11</a:t>
            </a:r>
          </a:p>
        </p:txBody>
      </p:sp>
      <p:pic>
        <p:nvPicPr>
          <p:cNvPr id="5" name="Picture 4" descr="06b_top_flop_ca_q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74" y="1745647"/>
            <a:ext cx="6397846" cy="47759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30241" y="1745646"/>
            <a:ext cx="3883680" cy="213189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1" i="0" dirty="0">
                <a:solidFill>
                  <a:srgbClr val="222222"/>
                </a:solidFill>
                <a:latin typeface="Aptos Display"/>
              </a:rPr>
              <a:t>Top </a:t>
            </a:r>
            <a:r>
              <a:rPr b="1" i="0" dirty="0" err="1">
                <a:solidFill>
                  <a:srgbClr val="222222"/>
                </a:solidFill>
                <a:latin typeface="Aptos Display"/>
              </a:rPr>
              <a:t>produit</a:t>
            </a:r>
            <a:r>
              <a:rPr b="1" i="0" dirty="0">
                <a:solidFill>
                  <a:srgbClr val="222222"/>
                </a:solidFill>
                <a:latin typeface="Aptos Display"/>
              </a:rPr>
              <a:t> : </a:t>
            </a:r>
            <a:endParaRPr lang="fr-FR" b="1" i="0" dirty="0">
              <a:solidFill>
                <a:srgbClr val="222222"/>
              </a:solidFill>
              <a:latin typeface="Aptos Display"/>
            </a:endParaRPr>
          </a:p>
          <a:p>
            <a:endParaRPr lang="fr-FR" sz="1400" b="0" i="0" dirty="0">
              <a:solidFill>
                <a:srgbClr val="222222"/>
              </a:solidFill>
              <a:latin typeface="Aptos Display"/>
            </a:endParaRPr>
          </a:p>
          <a:p>
            <a:r>
              <a:rPr sz="4000" b="1" i="0" dirty="0">
                <a:solidFill>
                  <a:srgbClr val="009A46"/>
                </a:solidFill>
                <a:latin typeface="Aptos Display"/>
              </a:rPr>
              <a:t>~</a:t>
            </a:r>
            <a:r>
              <a:rPr lang="fr-FR" sz="4000" b="1" i="0" dirty="0">
                <a:solidFill>
                  <a:srgbClr val="009A46"/>
                </a:solidFill>
                <a:latin typeface="Aptos Display"/>
              </a:rPr>
              <a:t> </a:t>
            </a:r>
            <a:r>
              <a:rPr sz="4000" b="1" i="0" dirty="0">
                <a:solidFill>
                  <a:srgbClr val="009A46"/>
                </a:solidFill>
                <a:latin typeface="Aptos Display"/>
              </a:rPr>
              <a:t>95 </a:t>
            </a:r>
            <a:r>
              <a:rPr lang="fr-FR" sz="4000" b="1" dirty="0">
                <a:solidFill>
                  <a:srgbClr val="009A46"/>
                </a:solidFill>
                <a:latin typeface="Aptos Display"/>
              </a:rPr>
              <a:t>K</a:t>
            </a:r>
            <a:r>
              <a:rPr sz="4000" b="1" i="0" dirty="0">
                <a:solidFill>
                  <a:srgbClr val="009A46"/>
                </a:solidFill>
                <a:latin typeface="Aptos Display"/>
              </a:rPr>
              <a:t>€ </a:t>
            </a:r>
            <a:endParaRPr lang="fr-FR" sz="4000" b="1" i="0" dirty="0">
              <a:solidFill>
                <a:srgbClr val="009A46"/>
              </a:solidFill>
              <a:latin typeface="Aptos Display"/>
            </a:endParaRPr>
          </a:p>
          <a:p>
            <a:endParaRPr lang="fr-FR" sz="1400" b="1" dirty="0">
              <a:solidFill>
                <a:srgbClr val="222222"/>
              </a:solidFill>
              <a:latin typeface="Aptos Display"/>
            </a:endParaRPr>
          </a:p>
          <a:p>
            <a:r>
              <a:rPr lang="fr-FR" dirty="0">
                <a:solidFill>
                  <a:srgbClr val="222222"/>
                </a:solidFill>
                <a:latin typeface="Aptos Display"/>
              </a:rPr>
              <a:t>Top quantité : ~ </a:t>
            </a:r>
            <a:r>
              <a:rPr lang="fr-FR" i="0" dirty="0">
                <a:solidFill>
                  <a:srgbClr val="222222"/>
                </a:solidFill>
                <a:latin typeface="Aptos Display"/>
              </a:rPr>
              <a:t>2300 unités vendues</a:t>
            </a:r>
          </a:p>
          <a:p>
            <a:endParaRPr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30241" y="4025527"/>
            <a:ext cx="3883680" cy="223449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C0392B"/>
                </a:solidFill>
                <a:latin typeface="Aptos Display"/>
              </a:rPr>
              <a:t>&lt; 3 €</a:t>
            </a:r>
          </a:p>
          <a:p>
            <a:pPr>
              <a:spcBef>
                <a:spcPts val="0"/>
              </a:spcBef>
            </a:pPr>
            <a:r>
              <a:rPr sz="1400" b="0" i="0" dirty="0">
                <a:solidFill>
                  <a:srgbClr val="777777"/>
                </a:solidFill>
                <a:latin typeface="Aptos Display"/>
              </a:rPr>
              <a:t>CA </a:t>
            </a:r>
            <a:r>
              <a:rPr sz="1400" b="0" i="0" dirty="0" err="1">
                <a:solidFill>
                  <a:srgbClr val="777777"/>
                </a:solidFill>
                <a:latin typeface="Aptos Display"/>
              </a:rPr>
              <a:t>généré</a:t>
            </a:r>
            <a:r>
              <a:rPr sz="1400" b="0" i="0" dirty="0">
                <a:solidFill>
                  <a:srgbClr val="777777"/>
                </a:solidFill>
                <a:latin typeface="Aptos Display"/>
              </a:rPr>
              <a:t> par les flops</a:t>
            </a:r>
            <a:endParaRPr lang="fr-FR"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endParaRPr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Déréférencer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les flops : simplifier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l'offre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sans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perte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de CA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sz="1400"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222222"/>
                </a:solidFill>
                <a:latin typeface="Aptos Display"/>
              </a:rPr>
              <a:t>4 clients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BtoB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= 7,4% du CA total —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perdre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un seul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impacte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directement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les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résultats</a:t>
            </a:r>
            <a:endParaRPr sz="3600" b="1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12</a:t>
            </a:r>
          </a:p>
        </p:txBody>
      </p:sp>
      <p:pic>
        <p:nvPicPr>
          <p:cNvPr id="5" name="Picture 4" descr="08_ca_bt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774799"/>
            <a:ext cx="6365520" cy="50112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9520" y="1846799"/>
            <a:ext cx="3883680" cy="246019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C0392B"/>
                </a:solidFill>
                <a:latin typeface="Aptos Display"/>
              </a:rPr>
              <a:t>4</a:t>
            </a:r>
            <a:endParaRPr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1" i="0" dirty="0">
                <a:latin typeface="Aptos Display"/>
              </a:rPr>
              <a:t>881 </a:t>
            </a:r>
            <a:r>
              <a:rPr lang="fr-FR" b="1" i="0" dirty="0">
                <a:latin typeface="Aptos Display"/>
              </a:rPr>
              <a:t>K</a:t>
            </a:r>
            <a:r>
              <a:rPr b="1" i="0" dirty="0">
                <a:latin typeface="Aptos Display"/>
              </a:rPr>
              <a:t>€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générés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— </a:t>
            </a:r>
            <a:r>
              <a:rPr b="1" i="0" dirty="0">
                <a:solidFill>
                  <a:srgbClr val="222222"/>
                </a:solidFill>
                <a:latin typeface="Aptos Display"/>
              </a:rPr>
              <a:t>7,4 % 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du CA total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Concentration critique sur très peu de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comptes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29520" y="4565156"/>
            <a:ext cx="3883680" cy="163945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b="1" i="0" dirty="0" err="1">
                <a:solidFill>
                  <a:srgbClr val="222222"/>
                </a:solidFill>
                <a:latin typeface="Aptos Display"/>
              </a:rPr>
              <a:t>Priorité</a:t>
            </a:r>
            <a:r>
              <a:rPr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1" i="0" dirty="0" err="1">
                <a:solidFill>
                  <a:srgbClr val="222222"/>
                </a:solidFill>
                <a:latin typeface="Aptos Display"/>
              </a:rPr>
              <a:t>absolue</a:t>
            </a:r>
            <a:r>
              <a:rPr b="1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: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Sécuriser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ces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comptes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avant toute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autre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action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commerciale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222222"/>
                </a:solidFill>
                <a:latin typeface="Aptos Display"/>
              </a:rPr>
              <a:t>Gini 0,45 — concentration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modérée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, la base </a:t>
            </a:r>
            <a:r>
              <a:rPr sz="3600" b="1" i="0" dirty="0" err="1">
                <a:solidFill>
                  <a:srgbClr val="222222"/>
                </a:solidFill>
                <a:latin typeface="Aptos Display"/>
              </a:rPr>
              <a:t>BtoC</a:t>
            </a:r>
            <a:r>
              <a:rPr sz="3600" b="1" i="0" dirty="0">
                <a:solidFill>
                  <a:srgbClr val="222222"/>
                </a:solidFill>
                <a:latin typeface="Aptos Display"/>
              </a:rPr>
              <a:t> est saine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 (</a:t>
            </a:r>
            <a:r>
              <a:rPr lang="fr-FR" sz="3600" b="1" i="0" dirty="0" err="1">
                <a:solidFill>
                  <a:srgbClr val="222222"/>
                </a:solidFill>
                <a:latin typeface="Aptos Display"/>
              </a:rPr>
              <a:t>BtoB</a:t>
            </a:r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 compris)</a:t>
            </a:r>
            <a:endParaRPr sz="3600" b="1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13</a:t>
            </a:r>
          </a:p>
        </p:txBody>
      </p:sp>
      <p:pic>
        <p:nvPicPr>
          <p:cNvPr id="5" name="Picture 4" descr="09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846799"/>
            <a:ext cx="6365520" cy="46512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9520" y="1846799"/>
            <a:ext cx="3883680" cy="190619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222222"/>
                </a:solidFill>
                <a:latin typeface="Aptos Display"/>
              </a:rPr>
              <a:t>48 %</a:t>
            </a:r>
          </a:p>
          <a:p>
            <a:pPr>
              <a:spcBef>
                <a:spcPts val="0"/>
              </a:spcBef>
            </a:pPr>
            <a:r>
              <a:rPr sz="1400" b="0" i="0" dirty="0">
                <a:solidFill>
                  <a:srgbClr val="777777"/>
                </a:solidFill>
                <a:latin typeface="Aptos Display"/>
              </a:rPr>
              <a:t>du CA sur les top 20 % clients</a:t>
            </a:r>
            <a:endParaRPr lang="fr-FR"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endParaRPr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 err="1">
                <a:solidFill>
                  <a:srgbClr val="222222"/>
                </a:solidFill>
                <a:latin typeface="Aptos Display"/>
              </a:rPr>
              <a:t>Indice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de Gini : 0,446 — concentration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modérée</a:t>
            </a: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29520" y="3919021"/>
            <a:ext cx="3883680" cy="239863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0" i="0" dirty="0">
                <a:solidFill>
                  <a:srgbClr val="222222"/>
                </a:solidFill>
                <a:latin typeface="Aptos Display"/>
              </a:rPr>
              <a:t>La base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BtoC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est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équilibrée</a:t>
            </a:r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Le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risque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de concentration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vient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des 4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BtoB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, pas du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BtoC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Sécuriser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BtoB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sans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négliger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la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valeur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diffuse du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BtoC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i="0" dirty="0">
                <a:solidFill>
                  <a:srgbClr val="222222"/>
                </a:solidFill>
                <a:latin typeface="Aptos Display"/>
              </a:rPr>
              <a:t>Pic d’acquisition puis chute petit à petit </a:t>
            </a:r>
            <a:r>
              <a:rPr lang="fr-FR" sz="3600" b="1" dirty="0">
                <a:solidFill>
                  <a:srgbClr val="222222"/>
                </a:solidFill>
                <a:latin typeface="Aptos Display"/>
              </a:rPr>
              <a:t>– bonne fidélisation mais mauvais recrutement </a:t>
            </a:r>
            <a:endParaRPr sz="3600" b="1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14</a:t>
            </a:r>
          </a:p>
        </p:txBody>
      </p:sp>
      <p:pic>
        <p:nvPicPr>
          <p:cNvPr id="5" name="Picture 4" descr="nouveaux_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846799"/>
            <a:ext cx="6365520" cy="4904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9520" y="1846799"/>
            <a:ext cx="3883680" cy="223449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1E8A44"/>
                </a:solidFill>
                <a:latin typeface="Aptos Display"/>
              </a:rPr>
              <a:t>8 596</a:t>
            </a:r>
          </a:p>
          <a:p>
            <a:pPr>
              <a:spcBef>
                <a:spcPts val="0"/>
              </a:spcBef>
            </a:pPr>
            <a:r>
              <a:rPr sz="1400" b="0" i="0" dirty="0">
                <a:solidFill>
                  <a:srgbClr val="777777"/>
                </a:solidFill>
                <a:latin typeface="Aptos Display"/>
              </a:rPr>
              <a:t>clients </a:t>
            </a:r>
            <a:r>
              <a:rPr sz="1400" b="0" i="0" dirty="0" err="1">
                <a:solidFill>
                  <a:srgbClr val="777777"/>
                </a:solidFill>
                <a:latin typeface="Aptos Display"/>
              </a:rPr>
              <a:t>uniques</a:t>
            </a:r>
            <a:r>
              <a:rPr sz="1400" b="0" i="0" dirty="0">
                <a:solidFill>
                  <a:srgbClr val="777777"/>
                </a:solidFill>
                <a:latin typeface="Aptos Display"/>
              </a:rPr>
              <a:t> sur 2 </a:t>
            </a:r>
            <a:r>
              <a:rPr sz="1400" b="0" i="0" dirty="0" err="1">
                <a:solidFill>
                  <a:srgbClr val="777777"/>
                </a:solidFill>
                <a:latin typeface="Aptos Display"/>
              </a:rPr>
              <a:t>ans</a:t>
            </a:r>
            <a:endParaRPr lang="fr-FR"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endParaRPr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Acquisition</a:t>
            </a:r>
            <a:r>
              <a:rPr lang="fr-FR" b="0" i="0" dirty="0">
                <a:solidFill>
                  <a:srgbClr val="222222"/>
                </a:solidFill>
                <a:latin typeface="Aptos Display"/>
              </a:rPr>
              <a:t> à l’</a:t>
            </a:r>
            <a:r>
              <a:rPr lang="fr-FR" b="0" i="0" dirty="0" err="1">
                <a:solidFill>
                  <a:srgbClr val="222222"/>
                </a:solidFill>
                <a:latin typeface="Aptos Display"/>
              </a:rPr>
              <a:t>ouerture</a:t>
            </a:r>
            <a:r>
              <a:rPr lang="fr-FR" b="0" i="0" dirty="0">
                <a:solidFill>
                  <a:srgbClr val="222222"/>
                </a:solidFill>
                <a:latin typeface="Aptos Display"/>
              </a:rPr>
              <a:t> mais difficulté </a:t>
            </a:r>
            <a:r>
              <a:rPr lang="fr-FR" dirty="0">
                <a:solidFill>
                  <a:srgbClr val="222222"/>
                </a:solidFill>
                <a:latin typeface="Aptos Display"/>
              </a:rPr>
              <a:t>à</a:t>
            </a:r>
            <a:r>
              <a:rPr lang="fr-FR" b="0" i="0" dirty="0">
                <a:solidFill>
                  <a:srgbClr val="222222"/>
                </a:solidFill>
                <a:latin typeface="Aptos Display"/>
              </a:rPr>
              <a:t> recruter, pourquoi ?</a:t>
            </a: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29520" y="4346898"/>
            <a:ext cx="3883680" cy="113675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pPr>
              <a:spcBef>
                <a:spcPts val="400"/>
              </a:spcBef>
            </a:pPr>
            <a:r>
              <a:rPr b="1" i="1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lang="fr-FR" b="1" i="1" dirty="0">
                <a:solidFill>
                  <a:srgbClr val="222222"/>
                </a:solidFill>
                <a:latin typeface="Aptos Display"/>
              </a:rPr>
              <a:t>Maintenir la fidélisation tout en attirant de nouveaux clients  </a:t>
            </a:r>
          </a:p>
          <a:p>
            <a:pPr>
              <a:spcBef>
                <a:spcPts val="400"/>
              </a:spcBef>
            </a:pPr>
            <a:endParaRPr lang="fr-FR" b="1" i="1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Genre et catégorie : lien trop faible pour segmenter — l'effort ne sera pas rentabilisé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15</a:t>
            </a:r>
          </a:p>
        </p:txBody>
      </p:sp>
      <p:pic>
        <p:nvPicPr>
          <p:cNvPr id="5" name="Picture 4" descr="10_genre_catego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846799"/>
            <a:ext cx="6365520" cy="46512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6320" y="2799377"/>
            <a:ext cx="3883680" cy="229604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r>
              <a:rPr b="0" i="0" dirty="0">
                <a:solidFill>
                  <a:srgbClr val="222222"/>
                </a:solidFill>
                <a:latin typeface="Aptos Display"/>
              </a:rPr>
              <a:t>Lien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statistiquement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réel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mais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de très petite taille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Les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préférences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d'achat</a:t>
            </a:r>
            <a:r>
              <a:rPr lang="fr-FR" b="0" i="0" dirty="0">
                <a:solidFill>
                  <a:srgbClr val="222222"/>
                </a:solidFill>
                <a:latin typeface="Aptos Display"/>
              </a:rPr>
              <a:t> ne sont pas influencées par le genre</a:t>
            </a: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Tranche d'âge et catégorie : lien fort — c'est le seul levier démographique actionnable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16</a:t>
            </a:r>
          </a:p>
        </p:txBody>
      </p:sp>
      <p:pic>
        <p:nvPicPr>
          <p:cNvPr id="5" name="Picture 4" descr="14_age_categorie_krusk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683834"/>
            <a:ext cx="6365520" cy="49761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3335" y="1839388"/>
            <a:ext cx="3883680" cy="2019047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0" i="0" dirty="0">
                <a:solidFill>
                  <a:srgbClr val="222222"/>
                </a:solidFill>
                <a:latin typeface="Aptos Display"/>
              </a:rPr>
              <a:t>Lien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statistiquement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très fort (Kruskal-Wallis, p &lt; 0,001)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L'âge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prédit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bien la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catégorie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achetée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63335" y="3985067"/>
            <a:ext cx="3883680" cy="207034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0" i="0" dirty="0">
                <a:solidFill>
                  <a:srgbClr val="222222"/>
                </a:solidFill>
                <a:latin typeface="Aptos Display"/>
              </a:rPr>
              <a:t>→ Adapter les mises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en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avant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selon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la tranche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d'âge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du client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Ciblage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éditorial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par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âge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: pertinent et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immédiatement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opérationnel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Âge et dépenses totales : légère corrélation négative — l'âge seul n'est pas prédicteur de valeur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17</a:t>
            </a:r>
          </a:p>
        </p:txBody>
      </p:sp>
      <p:pic>
        <p:nvPicPr>
          <p:cNvPr id="5" name="Picture 4" descr="11_age_ca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774799"/>
            <a:ext cx="6365520" cy="48492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545" y="2011721"/>
            <a:ext cx="3883680" cy="1906195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sz="4000" b="1" i="0" dirty="0">
                <a:solidFill>
                  <a:srgbClr val="C0392B"/>
                </a:solidFill>
                <a:latin typeface="Aptos Display"/>
              </a:rPr>
              <a:t>−11 €</a:t>
            </a:r>
          </a:p>
          <a:p>
            <a:pPr>
              <a:spcBef>
                <a:spcPts val="0"/>
              </a:spcBef>
            </a:pPr>
            <a:r>
              <a:rPr sz="1400" b="0" i="0" dirty="0">
                <a:solidFill>
                  <a:srgbClr val="777777"/>
                </a:solidFill>
                <a:latin typeface="Aptos Display"/>
              </a:rPr>
              <a:t>de CA par </a:t>
            </a:r>
            <a:r>
              <a:rPr sz="1400" b="0" i="0" dirty="0" err="1">
                <a:solidFill>
                  <a:srgbClr val="777777"/>
                </a:solidFill>
                <a:latin typeface="Aptos Display"/>
              </a:rPr>
              <a:t>année</a:t>
            </a:r>
            <a:r>
              <a:rPr sz="1400" b="0" i="0" dirty="0">
                <a:solidFill>
                  <a:srgbClr val="777777"/>
                </a:solidFill>
                <a:latin typeface="Aptos Display"/>
              </a:rPr>
              <a:t> </a:t>
            </a:r>
            <a:r>
              <a:rPr sz="1400" b="0" i="0" dirty="0" err="1">
                <a:solidFill>
                  <a:srgbClr val="777777"/>
                </a:solidFill>
                <a:latin typeface="Aptos Display"/>
              </a:rPr>
              <a:t>d'âge</a:t>
            </a:r>
            <a:r>
              <a:rPr sz="1400" b="0" i="0" dirty="0">
                <a:solidFill>
                  <a:srgbClr val="777777"/>
                </a:solidFill>
                <a:latin typeface="Aptos Display"/>
              </a:rPr>
              <a:t> </a:t>
            </a:r>
            <a:r>
              <a:rPr sz="1400" b="0" i="0" dirty="0" err="1">
                <a:solidFill>
                  <a:srgbClr val="777777"/>
                </a:solidFill>
                <a:latin typeface="Aptos Display"/>
              </a:rPr>
              <a:t>supplémentaire</a:t>
            </a:r>
            <a:endParaRPr lang="fr-FR"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0"/>
              </a:spcBef>
            </a:pPr>
            <a:endParaRPr sz="1400" b="0" i="0" dirty="0">
              <a:solidFill>
                <a:srgbClr val="777777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 err="1">
                <a:solidFill>
                  <a:srgbClr val="222222"/>
                </a:solidFill>
                <a:latin typeface="Aptos Display"/>
              </a:rPr>
              <a:t>Corrélation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faible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— lien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réel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mais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faible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amplitude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52545" y="4306727"/>
            <a:ext cx="3883680" cy="1362457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r>
              <a:rPr b="0" i="0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L'âge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ne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suffit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pas à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prédire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la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valeur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d'un client</a:t>
            </a:r>
            <a:endParaRPr lang="fr-FR" dirty="0">
              <a:solidFill>
                <a:srgbClr val="222222"/>
              </a:solidFill>
              <a:latin typeface="Aptos Display"/>
            </a:endParaRPr>
          </a:p>
          <a:p>
            <a:endParaRPr lang="fr-FR"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Âge et fréquence : aucun lien — tous les âges achètent aussi souvent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18</a:t>
            </a:r>
          </a:p>
        </p:txBody>
      </p:sp>
      <p:pic>
        <p:nvPicPr>
          <p:cNvPr id="5" name="Picture 4" descr="12_age_fr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709825"/>
            <a:ext cx="6365520" cy="47881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545" y="2083276"/>
            <a:ext cx="3883680" cy="2019047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0" i="0" dirty="0" err="1">
                <a:solidFill>
                  <a:srgbClr val="222222"/>
                </a:solidFill>
                <a:latin typeface="Aptos Display"/>
              </a:rPr>
              <a:t>Aucune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relation entre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l'âge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et la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fréquence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d'achat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Un client de 25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ans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n'achète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pas plus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souvent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qu'un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client de 60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ans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52545" y="4346473"/>
            <a:ext cx="3883680" cy="1465049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1" i="1" dirty="0">
                <a:solidFill>
                  <a:srgbClr val="222222"/>
                </a:solidFill>
                <a:latin typeface="Aptos Display"/>
              </a:rPr>
              <a:t>→ </a:t>
            </a:r>
            <a:r>
              <a:rPr lang="fr-FR" b="1" i="1" dirty="0">
                <a:solidFill>
                  <a:srgbClr val="222222"/>
                </a:solidFill>
                <a:latin typeface="Aptos Display"/>
              </a:rPr>
              <a:t>F</a:t>
            </a:r>
            <a:r>
              <a:rPr b="1" i="1" dirty="0" err="1">
                <a:solidFill>
                  <a:srgbClr val="222222"/>
                </a:solidFill>
                <a:latin typeface="Aptos Display"/>
              </a:rPr>
              <a:t>idéliser</a:t>
            </a:r>
            <a:r>
              <a:rPr b="1" i="1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1" i="1" dirty="0" err="1">
                <a:solidFill>
                  <a:srgbClr val="222222"/>
                </a:solidFill>
                <a:latin typeface="Aptos Display"/>
              </a:rPr>
              <a:t>tôt</a:t>
            </a:r>
            <a:r>
              <a:rPr b="1" i="1" dirty="0">
                <a:solidFill>
                  <a:srgbClr val="222222"/>
                </a:solidFill>
                <a:latin typeface="Aptos Display"/>
              </a:rPr>
              <a:t>, </a:t>
            </a:r>
            <a:r>
              <a:rPr b="1" i="1" dirty="0" err="1">
                <a:solidFill>
                  <a:srgbClr val="222222"/>
                </a:solidFill>
                <a:latin typeface="Aptos Display"/>
              </a:rPr>
              <a:t>entretenir</a:t>
            </a:r>
            <a:r>
              <a:rPr b="1" i="1" dirty="0">
                <a:solidFill>
                  <a:srgbClr val="222222"/>
                </a:solidFill>
                <a:latin typeface="Aptos Display"/>
              </a:rPr>
              <a:t> la relation dans la durée</a:t>
            </a:r>
            <a:endParaRPr lang="fr-FR" b="1" i="1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Âge et panier moyen : aucun lien — tous les âges dépensent autant par achat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457999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19</a:t>
            </a:r>
          </a:p>
        </p:txBody>
      </p:sp>
      <p:pic>
        <p:nvPicPr>
          <p:cNvPr id="5" name="Picture 4" descr="13_age_panier_moy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846799"/>
            <a:ext cx="6365520" cy="478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41394" y="1843150"/>
            <a:ext cx="3883680" cy="141375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0" i="0" dirty="0" err="1">
                <a:solidFill>
                  <a:srgbClr val="222222"/>
                </a:solidFill>
                <a:latin typeface="Aptos Display"/>
              </a:rPr>
              <a:t>Aucune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relation entre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l'âge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et le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montant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par transaction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 err="1">
                <a:solidFill>
                  <a:srgbClr val="222222"/>
                </a:solidFill>
                <a:latin typeface="Aptos Display"/>
              </a:rPr>
              <a:t>Résultat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cohérent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avec la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fréquence</a:t>
            </a: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41394" y="3565478"/>
            <a:ext cx="3883680" cy="234734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80000" tIns="144000" rIns="180000" bIns="108000">
            <a:spAutoFit/>
          </a:bodyPr>
          <a:lstStyle/>
          <a:p>
            <a:r>
              <a:rPr b="1" i="0" dirty="0">
                <a:solidFill>
                  <a:srgbClr val="222222"/>
                </a:solidFill>
                <a:latin typeface="Aptos Display"/>
              </a:rPr>
              <a:t>Conclusion sur </a:t>
            </a:r>
            <a:r>
              <a:rPr b="1" i="0" dirty="0" err="1">
                <a:solidFill>
                  <a:srgbClr val="222222"/>
                </a:solidFill>
                <a:latin typeface="Aptos Display"/>
              </a:rPr>
              <a:t>l'âge</a:t>
            </a:r>
            <a:r>
              <a:rPr b="1" i="0" dirty="0">
                <a:solidFill>
                  <a:srgbClr val="222222"/>
                </a:solidFill>
                <a:latin typeface="Aptos Display"/>
              </a:rPr>
              <a:t> :</a:t>
            </a:r>
            <a:endParaRPr lang="fr-FR" b="1" i="0" dirty="0">
              <a:solidFill>
                <a:srgbClr val="222222"/>
              </a:solidFill>
              <a:latin typeface="Aptos Display"/>
            </a:endParaRPr>
          </a:p>
          <a:p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Utile pour le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ciblage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éditorial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(quelle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catégorie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proposer)</a:t>
            </a:r>
            <a:endParaRPr lang="fr-FR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endParaRPr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400"/>
              </a:spcBef>
            </a:pPr>
            <a:r>
              <a:rPr b="0" i="0" dirty="0">
                <a:solidFill>
                  <a:srgbClr val="222222"/>
                </a:solidFill>
                <a:latin typeface="Aptos Display"/>
              </a:rPr>
              <a:t>→ Pas pertinent pour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prédire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la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valeur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ou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la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fréquence</a:t>
            </a:r>
            <a:r>
              <a:rPr b="0" i="0" dirty="0">
                <a:solidFill>
                  <a:srgbClr val="222222"/>
                </a:solidFill>
                <a:latin typeface="Aptos Display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Aptos Display"/>
              </a:rPr>
              <a:t>d'achat</a:t>
            </a:r>
            <a:endParaRPr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Synthèse — Ce que les données nous disent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26000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3430" y="1773395"/>
            <a:ext cx="3603886" cy="720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1B433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1429" y="1953395"/>
            <a:ext cx="3305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ptos Display"/>
              </a:rPr>
              <a:t>Activité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3430" y="2493395"/>
            <a:ext cx="3603886" cy="217382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endParaRPr lang="fr-FR" sz="1800" b="0" i="0" dirty="0">
              <a:solidFill>
                <a:srgbClr val="222222"/>
              </a:solidFill>
              <a:latin typeface="Aptos Display"/>
            </a:endParaRPr>
          </a:p>
          <a:p>
            <a:r>
              <a:rPr sz="1800" b="0" i="0" dirty="0">
                <a:solidFill>
                  <a:srgbClr val="222222"/>
                </a:solidFill>
                <a:latin typeface="Aptos Display"/>
              </a:rPr>
              <a:t>→  CA </a:t>
            </a:r>
            <a:r>
              <a:rPr sz="1800" b="1" i="0" dirty="0">
                <a:solidFill>
                  <a:srgbClr val="222222"/>
                </a:solidFill>
                <a:latin typeface="Aptos Display"/>
              </a:rPr>
              <a:t>+11,85 M€ </a:t>
            </a:r>
            <a:r>
              <a:rPr sz="1800" b="0" i="0" dirty="0">
                <a:solidFill>
                  <a:srgbClr val="222222"/>
                </a:solidFill>
                <a:latin typeface="Aptos Display"/>
              </a:rPr>
              <a:t>stable sur 2 </a:t>
            </a:r>
            <a:r>
              <a:rPr sz="1800" b="0" i="0" dirty="0" err="1">
                <a:solidFill>
                  <a:srgbClr val="222222"/>
                </a:solidFill>
                <a:latin typeface="Aptos Display"/>
              </a:rPr>
              <a:t>ans</a:t>
            </a:r>
            <a:endParaRPr sz="1800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1200"/>
              </a:spcBef>
            </a:pPr>
            <a:r>
              <a:rPr lang="fr-FR" sz="1800" b="0" i="0" dirty="0">
                <a:solidFill>
                  <a:srgbClr val="222222"/>
                </a:solidFill>
                <a:latin typeface="Aptos Display"/>
              </a:rPr>
              <a:t>→  Cat. 2 : premium sous-exploité</a:t>
            </a:r>
            <a:endParaRPr sz="1800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1200"/>
              </a:spcBef>
            </a:pPr>
            <a:r>
              <a:rPr sz="1800" b="0" i="0" dirty="0">
                <a:solidFill>
                  <a:srgbClr val="222222"/>
                </a:solidFill>
                <a:latin typeface="Aptos Display"/>
              </a:rPr>
              <a:t>→  Flops catalogue : CA </a:t>
            </a:r>
            <a:r>
              <a:rPr sz="1800" b="0" i="0" dirty="0" err="1">
                <a:solidFill>
                  <a:srgbClr val="222222"/>
                </a:solidFill>
                <a:latin typeface="Aptos Display"/>
              </a:rPr>
              <a:t>négligeabl</a:t>
            </a:r>
            <a:r>
              <a:rPr lang="fr-FR" sz="1800" b="0" i="0" dirty="0">
                <a:solidFill>
                  <a:srgbClr val="222222"/>
                </a:solidFill>
                <a:latin typeface="Aptos Display"/>
              </a:rPr>
              <a:t>e</a:t>
            </a:r>
          </a:p>
          <a:p>
            <a:pPr>
              <a:spcBef>
                <a:spcPts val="1200"/>
              </a:spcBef>
            </a:pPr>
            <a:endParaRPr lang="fr-FR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21667" y="1775151"/>
            <a:ext cx="3777070" cy="720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29666" y="1955151"/>
            <a:ext cx="3464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ptos Display"/>
              </a:rPr>
              <a:t>Clients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1667" y="2495151"/>
            <a:ext cx="3777070" cy="217382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endParaRPr lang="fr-FR" sz="1800" b="0" i="0" dirty="0">
              <a:solidFill>
                <a:srgbClr val="222222"/>
              </a:solidFill>
              <a:latin typeface="Aptos Display"/>
            </a:endParaRPr>
          </a:p>
          <a:p>
            <a:r>
              <a:rPr sz="1800" b="0" i="0" dirty="0">
                <a:solidFill>
                  <a:srgbClr val="222222"/>
                </a:solidFill>
                <a:latin typeface="Aptos Display"/>
              </a:rPr>
              <a:t>→  4 clients </a:t>
            </a:r>
            <a:r>
              <a:rPr sz="1800" b="0" i="0" dirty="0" err="1">
                <a:solidFill>
                  <a:srgbClr val="222222"/>
                </a:solidFill>
                <a:latin typeface="Aptos Display"/>
              </a:rPr>
              <a:t>BtoB</a:t>
            </a:r>
            <a:r>
              <a:rPr sz="1800" b="0" i="0" dirty="0">
                <a:solidFill>
                  <a:srgbClr val="222222"/>
                </a:solidFill>
                <a:latin typeface="Aptos Display"/>
              </a:rPr>
              <a:t> = 7,4 % du CA</a:t>
            </a:r>
          </a:p>
          <a:p>
            <a:pPr>
              <a:spcBef>
                <a:spcPts val="1200"/>
              </a:spcBef>
            </a:pPr>
            <a:r>
              <a:rPr sz="1800" b="0" i="0" dirty="0">
                <a:solidFill>
                  <a:srgbClr val="222222"/>
                </a:solidFill>
                <a:latin typeface="Aptos Display"/>
              </a:rPr>
              <a:t>→  Acquisition </a:t>
            </a:r>
            <a:r>
              <a:rPr lang="fr-FR" dirty="0">
                <a:solidFill>
                  <a:srgbClr val="222222"/>
                </a:solidFill>
                <a:latin typeface="Aptos Display"/>
              </a:rPr>
              <a:t>quasi inexistante </a:t>
            </a:r>
            <a:endParaRPr sz="1800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1200"/>
              </a:spcBef>
            </a:pPr>
            <a:r>
              <a:rPr sz="1800" b="0" i="0" dirty="0">
                <a:solidFill>
                  <a:srgbClr val="222222"/>
                </a:solidFill>
                <a:latin typeface="Aptos Display"/>
              </a:rPr>
              <a:t>→  Base </a:t>
            </a:r>
            <a:r>
              <a:rPr sz="1800" b="0" i="0" dirty="0" err="1">
                <a:solidFill>
                  <a:srgbClr val="222222"/>
                </a:solidFill>
                <a:latin typeface="Aptos Display"/>
              </a:rPr>
              <a:t>BtoC</a:t>
            </a:r>
            <a:r>
              <a:rPr sz="1800" b="0" i="0" dirty="0">
                <a:solidFill>
                  <a:srgbClr val="222222"/>
                </a:solidFill>
                <a:latin typeface="Aptos Display"/>
              </a:rPr>
              <a:t> saine et </a:t>
            </a:r>
            <a:r>
              <a:rPr sz="1800" b="0" i="0" dirty="0" err="1">
                <a:solidFill>
                  <a:srgbClr val="222222"/>
                </a:solidFill>
                <a:latin typeface="Aptos Display"/>
              </a:rPr>
              <a:t>équilibrée</a:t>
            </a:r>
            <a:endParaRPr lang="fr-FR" sz="1800" b="0" i="0" dirty="0">
              <a:solidFill>
                <a:srgbClr val="222222"/>
              </a:solidFill>
              <a:latin typeface="Aptos Display"/>
            </a:endParaRPr>
          </a:p>
          <a:p>
            <a:pPr>
              <a:spcBef>
                <a:spcPts val="1200"/>
              </a:spcBef>
            </a:pPr>
            <a:endParaRPr lang="fr-FR" sz="1800" b="0" i="0" dirty="0">
              <a:solidFill>
                <a:srgbClr val="222222"/>
              </a:solidFill>
              <a:latin typeface="Aptos Display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33088" y="1774800"/>
            <a:ext cx="3777070" cy="720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41087" y="1954800"/>
            <a:ext cx="3464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ptos Display"/>
              </a:rPr>
              <a:t>Corrélations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3088" y="2494800"/>
            <a:ext cx="3777070" cy="211226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endParaRPr lang="fr-FR" sz="1800" b="0" i="0" dirty="0">
              <a:solidFill>
                <a:srgbClr val="222222"/>
              </a:solidFill>
              <a:latin typeface="Aptos Display"/>
            </a:endParaRPr>
          </a:p>
          <a:p>
            <a:r>
              <a:rPr sz="1800" b="0" i="0" dirty="0">
                <a:solidFill>
                  <a:srgbClr val="222222"/>
                </a:solidFill>
                <a:latin typeface="Aptos Display"/>
              </a:rPr>
              <a:t>→  </a:t>
            </a:r>
            <a:r>
              <a:rPr sz="1800" b="0" i="0" dirty="0" err="1">
                <a:solidFill>
                  <a:srgbClr val="222222"/>
                </a:solidFill>
                <a:latin typeface="Aptos Display"/>
              </a:rPr>
              <a:t>Âge</a:t>
            </a:r>
            <a:r>
              <a:rPr sz="1800" b="0" i="0" dirty="0">
                <a:solidFill>
                  <a:srgbClr val="222222"/>
                </a:solidFill>
                <a:latin typeface="Aptos Display"/>
              </a:rPr>
              <a:t> → fort </a:t>
            </a:r>
            <a:r>
              <a:rPr sz="1800" b="0" i="0" dirty="0" err="1">
                <a:solidFill>
                  <a:srgbClr val="222222"/>
                </a:solidFill>
                <a:latin typeface="Aptos Display"/>
              </a:rPr>
              <a:t>prédicteur</a:t>
            </a:r>
            <a:r>
              <a:rPr sz="1800" b="0" i="0" dirty="0">
                <a:solidFill>
                  <a:srgbClr val="222222"/>
                </a:solidFill>
                <a:latin typeface="Aptos Display"/>
              </a:rPr>
              <a:t> de </a:t>
            </a:r>
            <a:r>
              <a:rPr sz="1800" b="0" i="0" dirty="0" err="1">
                <a:solidFill>
                  <a:srgbClr val="222222"/>
                </a:solidFill>
                <a:latin typeface="Aptos Display"/>
              </a:rPr>
              <a:t>catégorie</a:t>
            </a:r>
            <a:endParaRPr lang="fr-FR" sz="1800" b="0" i="0" dirty="0">
              <a:solidFill>
                <a:srgbClr val="222222"/>
              </a:solidFill>
              <a:latin typeface="Aptos Display"/>
            </a:endParaRPr>
          </a:p>
          <a:p>
            <a:endParaRPr lang="fr-FR" sz="800" b="0" i="0" dirty="0">
              <a:solidFill>
                <a:srgbClr val="222222"/>
              </a:solidFill>
              <a:latin typeface="Aptos Display"/>
            </a:endParaRPr>
          </a:p>
          <a:p>
            <a:endParaRPr lang="fr-FR" sz="800" dirty="0">
              <a:solidFill>
                <a:srgbClr val="222222"/>
              </a:solidFill>
              <a:latin typeface="Aptos Display"/>
            </a:endParaRPr>
          </a:p>
          <a:p>
            <a:endParaRPr lang="fr-FR" sz="800" dirty="0">
              <a:solidFill>
                <a:srgbClr val="222222"/>
              </a:solidFill>
              <a:latin typeface="Aptos Display"/>
            </a:endParaRPr>
          </a:p>
          <a:p>
            <a:endParaRPr lang="fr-FR" sz="800" dirty="0">
              <a:solidFill>
                <a:srgbClr val="222222"/>
              </a:solidFill>
              <a:latin typeface="Aptos Display"/>
            </a:endParaRPr>
          </a:p>
          <a:p>
            <a:endParaRPr lang="fr-FR" sz="800" dirty="0">
              <a:solidFill>
                <a:srgbClr val="222222"/>
              </a:solidFill>
              <a:latin typeface="Aptos Display"/>
            </a:endParaRPr>
          </a:p>
          <a:p>
            <a:endParaRPr lang="fr-FR" sz="800" dirty="0">
              <a:solidFill>
                <a:srgbClr val="222222"/>
              </a:solidFill>
              <a:latin typeface="Aptos Display"/>
            </a:endParaRPr>
          </a:p>
          <a:p>
            <a:endParaRPr lang="fr-FR" sz="800" dirty="0">
              <a:solidFill>
                <a:srgbClr val="222222"/>
              </a:solidFill>
              <a:latin typeface="Aptos Display"/>
            </a:endParaRPr>
          </a:p>
          <a:p>
            <a:endParaRPr lang="fr-FR" sz="800" dirty="0">
              <a:solidFill>
                <a:srgbClr val="222222"/>
              </a:solidFill>
              <a:latin typeface="Aptos Display"/>
            </a:endParaRPr>
          </a:p>
          <a:p>
            <a:endParaRPr lang="fr-FR" sz="800" dirty="0">
              <a:solidFill>
                <a:srgbClr val="222222"/>
              </a:solidFill>
              <a:latin typeface="Aptos Display"/>
            </a:endParaRPr>
          </a:p>
          <a:p>
            <a:endParaRPr lang="fr-FR" sz="800" b="0" i="0" dirty="0">
              <a:solidFill>
                <a:srgbClr val="222222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162000"/>
            <a:ext cx="107532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222222"/>
                </a:solidFill>
                <a:latin typeface="Aptos Display"/>
              </a:rPr>
              <a:t>4 actions prioritaires pour les 6 prochains mois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26000"/>
            <a:ext cx="10753200" cy="28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80000" y="6408000"/>
            <a:ext cx="90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Aptos Display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14800"/>
            <a:ext cx="2607300" cy="95575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000" y="1594800"/>
            <a:ext cx="2391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 err="1">
                <a:solidFill>
                  <a:srgbClr val="FFFFFF"/>
                </a:solidFill>
                <a:latin typeface="Aptos Display"/>
              </a:rPr>
              <a:t>Sécuriser</a:t>
            </a:r>
            <a:r>
              <a:rPr sz="1800" b="1" i="0" dirty="0">
                <a:solidFill>
                  <a:srgbClr val="FFFFFF"/>
                </a:solidFill>
                <a:latin typeface="Aptos Display"/>
              </a:rPr>
              <a:t> le </a:t>
            </a:r>
            <a:r>
              <a:rPr sz="1800" b="1" i="0" dirty="0" err="1">
                <a:solidFill>
                  <a:srgbClr val="FFFFFF"/>
                </a:solidFill>
                <a:latin typeface="Aptos Display"/>
              </a:rPr>
              <a:t>BtoB</a:t>
            </a:r>
            <a:endParaRPr sz="1800" b="1" i="0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0000" y="2551784"/>
            <a:ext cx="2607300" cy="309715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r>
              <a:rPr sz="1800" b="0" i="0" dirty="0">
                <a:solidFill>
                  <a:srgbClr val="777777"/>
                </a:solidFill>
                <a:latin typeface="Aptos Display"/>
              </a:rPr>
              <a:t>
→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Suivi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dédié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+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contrats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cadres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sz="1800" b="0" i="0" dirty="0">
              <a:solidFill>
                <a:srgbClr val="777777"/>
              </a:solidFill>
              <a:latin typeface="Aptos Display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435300" y="1414800"/>
            <a:ext cx="2607300" cy="95575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3300" y="1594800"/>
            <a:ext cx="2391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b="1" i="0" dirty="0">
                <a:solidFill>
                  <a:srgbClr val="FFFFFF"/>
                </a:solidFill>
                <a:latin typeface="Aptos Display"/>
              </a:rPr>
              <a:t>Réguler </a:t>
            </a:r>
            <a:r>
              <a:rPr sz="1800" b="1" i="0" dirty="0">
                <a:solidFill>
                  <a:srgbClr val="FFFFFF"/>
                </a:solidFill>
                <a:latin typeface="Aptos Display"/>
              </a:rPr>
              <a:t>le catalogue</a:t>
            </a:r>
            <a:endParaRPr lang="fr-FR" sz="1800" b="1" i="0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35300" y="2551784"/>
            <a:ext cx="2607300" cy="309715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r>
              <a:rPr sz="1800" b="0" i="0" dirty="0">
                <a:solidFill>
                  <a:srgbClr val="777777"/>
                </a:solidFill>
                <a:latin typeface="Aptos Display"/>
              </a:rPr>
              <a:t>Focus 20 % des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références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motrices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r>
              <a:rPr sz="1800" b="0" i="0" dirty="0">
                <a:solidFill>
                  <a:srgbClr val="777777"/>
                </a:solidFill>
                <a:latin typeface="Aptos Display"/>
              </a:rPr>
              <a:t>
→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Déréférencer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les flops sans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perte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de CA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sz="1800" b="0" i="0" dirty="0">
              <a:solidFill>
                <a:srgbClr val="777777"/>
              </a:solidFill>
              <a:latin typeface="Aptos Display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50600" y="1414800"/>
            <a:ext cx="2607300" cy="95575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58600" y="1594800"/>
            <a:ext cx="2391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 err="1">
                <a:solidFill>
                  <a:srgbClr val="FFFFFF"/>
                </a:solidFill>
                <a:latin typeface="Aptos Display"/>
              </a:rPr>
              <a:t>Développer</a:t>
            </a:r>
            <a:r>
              <a:rPr sz="1800" b="1" i="0" dirty="0">
                <a:solidFill>
                  <a:srgbClr val="FFFFFF"/>
                </a:solidFill>
                <a:latin typeface="Aptos Display"/>
              </a:rPr>
              <a:t> Cat. 2 sur les &lt; 25 </a:t>
            </a:r>
            <a:r>
              <a:rPr sz="1800" b="1" i="0" dirty="0" err="1">
                <a:solidFill>
                  <a:srgbClr val="FFFFFF"/>
                </a:solidFill>
                <a:latin typeface="Aptos Display"/>
              </a:rPr>
              <a:t>ans</a:t>
            </a:r>
            <a:endParaRPr sz="1800" b="1" i="0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50600" y="2551784"/>
            <a:ext cx="2607300" cy="309715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r>
              <a:rPr sz="1800" b="0" i="0" dirty="0">
                <a:solidFill>
                  <a:srgbClr val="777777"/>
                </a:solidFill>
                <a:latin typeface="Aptos Display"/>
              </a:rPr>
              <a:t>Prix premium + tranche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d'âge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validée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r>
              <a:rPr sz="1800" b="0" i="0" dirty="0">
                <a:solidFill>
                  <a:srgbClr val="777777"/>
                </a:solidFill>
                <a:latin typeface="Aptos Display"/>
              </a:rPr>
              <a:t>
→ Seul segment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où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Cat. 2 est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surreprésentée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sz="1800" b="0" i="0" dirty="0">
              <a:solidFill>
                <a:srgbClr val="777777"/>
              </a:solidFill>
              <a:latin typeface="Aptos Display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865900" y="1414800"/>
            <a:ext cx="2607300" cy="95575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73900" y="1594800"/>
            <a:ext cx="2391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 err="1">
                <a:solidFill>
                  <a:srgbClr val="FFFFFF"/>
                </a:solidFill>
                <a:latin typeface="Aptos Display"/>
              </a:rPr>
              <a:t>Cibler</a:t>
            </a:r>
            <a:r>
              <a:rPr lang="fr-FR" sz="1800" b="1" i="0" dirty="0">
                <a:solidFill>
                  <a:srgbClr val="FFFFFF"/>
                </a:solidFill>
                <a:latin typeface="Aptos Display"/>
              </a:rPr>
              <a:t> les stratégies marketing </a:t>
            </a:r>
            <a:r>
              <a:rPr sz="1800" b="1" i="0" dirty="0">
                <a:solidFill>
                  <a:srgbClr val="FFFFFF"/>
                </a:solidFill>
                <a:latin typeface="Aptos Display"/>
              </a:rPr>
              <a:t> par </a:t>
            </a:r>
            <a:r>
              <a:rPr sz="1800" b="1" i="0" dirty="0" err="1">
                <a:solidFill>
                  <a:srgbClr val="FFFFFF"/>
                </a:solidFill>
                <a:latin typeface="Aptos Display"/>
              </a:rPr>
              <a:t>âge</a:t>
            </a:r>
            <a:endParaRPr sz="1800" b="1" i="0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865900" y="2551784"/>
            <a:ext cx="2607300" cy="3097153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txBody>
          <a:bodyPr wrap="square" lIns="162000" tIns="162000" rIns="162000" bIns="162000">
            <a:spAutoFit/>
          </a:bodyPr>
          <a:lstStyle/>
          <a:p>
            <a:r>
              <a:rPr sz="1800" b="0" i="0" dirty="0">
                <a:solidFill>
                  <a:srgbClr val="777777"/>
                </a:solidFill>
                <a:latin typeface="Aptos Display"/>
              </a:rPr>
              <a:t>→ Seul levier </a:t>
            </a:r>
            <a:r>
              <a:rPr sz="1800" b="0" i="0" dirty="0" err="1">
                <a:solidFill>
                  <a:srgbClr val="777777"/>
                </a:solidFill>
                <a:latin typeface="Aptos Display"/>
              </a:rPr>
              <a:t>démographique</a:t>
            </a:r>
            <a:r>
              <a:rPr sz="1800" b="0" i="0" dirty="0">
                <a:solidFill>
                  <a:srgbClr val="777777"/>
                </a:solidFill>
                <a:latin typeface="Aptos Display"/>
              </a:rPr>
              <a:t> fort (Kruskal p &lt; 0,001)</a:t>
            </a:r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lang="fr-FR" dirty="0">
              <a:solidFill>
                <a:srgbClr val="777777"/>
              </a:solidFill>
              <a:latin typeface="Aptos Display"/>
            </a:endParaRPr>
          </a:p>
          <a:p>
            <a:endParaRPr lang="fr-FR" sz="1800" b="0" i="0" dirty="0">
              <a:solidFill>
                <a:srgbClr val="777777"/>
              </a:solidFill>
              <a:latin typeface="Aptos Display"/>
            </a:endParaRPr>
          </a:p>
          <a:p>
            <a:endParaRPr sz="1800" b="0" i="0" dirty="0">
              <a:solidFill>
                <a:srgbClr val="777777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1023</Words>
  <Application>Microsoft Office PowerPoint</Application>
  <PresentationFormat>Personnalisé</PresentationFormat>
  <Paragraphs>238</Paragraphs>
  <Slides>21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6" baseType="lpstr">
      <vt:lpstr>Aptos Display</vt:lpstr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Josy Elices-Diez</cp:lastModifiedBy>
  <cp:revision>3</cp:revision>
  <dcterms:created xsi:type="dcterms:W3CDTF">2013-01-27T09:14:16Z</dcterms:created>
  <dcterms:modified xsi:type="dcterms:W3CDTF">2026-04-17T12:40:31Z</dcterms:modified>
  <cp:category/>
</cp:coreProperties>
</file>